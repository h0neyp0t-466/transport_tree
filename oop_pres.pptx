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4" r:id="rId6"/>
    <p:sldId id="260" r:id="rId7"/>
    <p:sldId id="261" r:id="rId8"/>
    <p:sldId id="262"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5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4" d="100"/>
          <a:sy n="54" d="100"/>
        </p:scale>
        <p:origin x="16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1256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png"/><Relationship Id="rId7" Type="http://schemas.openxmlformats.org/officeDocument/2006/relationships/hyperlink" Target="https://gamma.app"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s://gamma.app"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gamma.app" TargetMode="Externa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9.png"/><Relationship Id="rId7" Type="http://schemas.openxmlformats.org/officeDocument/2006/relationships/hyperlink" Target="https://gamma.app"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dirty="0"/>
          </a:p>
        </p:txBody>
      </p:sp>
      <p:sp>
        <p:nvSpPr>
          <p:cNvPr id="5" name="Text 2"/>
          <p:cNvSpPr/>
          <p:nvPr/>
        </p:nvSpPr>
        <p:spPr>
          <a:xfrm>
            <a:off x="833199" y="308758"/>
            <a:ext cx="7477601" cy="2149434"/>
          </a:xfrm>
          <a:prstGeom prst="rect">
            <a:avLst/>
          </a:prstGeom>
          <a:noFill/>
          <a:ln/>
        </p:spPr>
        <p:txBody>
          <a:bodyPr wrap="square" rtlCol="0" anchor="t"/>
          <a:lstStyle/>
          <a:p>
            <a:pPr marL="0" indent="0">
              <a:lnSpc>
                <a:spcPts val="7545"/>
              </a:lnSpc>
              <a:buNone/>
            </a:pPr>
            <a:r>
              <a:rPr lang="en-US" sz="6036" b="1" kern="0" spc="-181" dirty="0">
                <a:solidFill>
                  <a:srgbClr val="FFFFFF"/>
                </a:solidFill>
                <a:latin typeface="Inter" pitchFamily="34" charset="0"/>
                <a:ea typeface="Inter" pitchFamily="34" charset="-122"/>
                <a:cs typeface="Inter" pitchFamily="34" charset="-120"/>
              </a:rPr>
              <a:t>Introduction to Transport Tree</a:t>
            </a:r>
            <a:endParaRPr lang="en-US" sz="6036" dirty="0"/>
          </a:p>
        </p:txBody>
      </p:sp>
      <p:sp>
        <p:nvSpPr>
          <p:cNvPr id="6" name="Text 3"/>
          <p:cNvSpPr/>
          <p:nvPr/>
        </p:nvSpPr>
        <p:spPr>
          <a:xfrm>
            <a:off x="833200" y="2458192"/>
            <a:ext cx="7337024" cy="1211283"/>
          </a:xfrm>
          <a:prstGeom prst="rect">
            <a:avLst/>
          </a:prstGeom>
          <a:noFill/>
          <a:ln/>
        </p:spPr>
        <p:txBody>
          <a:bodyPr wrap="square" rtlCol="0" anchor="t"/>
          <a:lstStyle/>
          <a:p>
            <a:pPr marL="0" indent="0">
              <a:lnSpc>
                <a:spcPts val="2624"/>
              </a:lnSpc>
              <a:buNone/>
            </a:pPr>
            <a:r>
              <a:rPr lang="en-US" sz="2800" kern="0" spc="-35" dirty="0">
                <a:solidFill>
                  <a:srgbClr val="E5E0DF"/>
                </a:solidFill>
                <a:ea typeface="Inter" pitchFamily="34" charset="-122"/>
                <a:cs typeface="Inter" pitchFamily="34" charset="-120"/>
              </a:rPr>
              <a:t>Welcome to the Transport Tree project, a comprehensive initiative aimed at revolutionizing public transportation in Lahore, Pakistan.</a:t>
            </a:r>
            <a:endParaRPr lang="en-US" sz="2800" dirty="0"/>
          </a:p>
        </p:txBody>
      </p:sp>
      <p:pic>
        <p:nvPicPr>
          <p:cNvPr id="7" name="Image 1"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
        <p:nvSpPr>
          <p:cNvPr id="8" name="Rectangle 7">
            <a:extLst>
              <a:ext uri="{FF2B5EF4-FFF2-40B4-BE49-F238E27FC236}">
                <a16:creationId xmlns:a16="http://schemas.microsoft.com/office/drawing/2014/main" id="{DED4A05E-9F07-E71E-9DD6-2EF68D0FE252}"/>
              </a:ext>
            </a:extLst>
          </p:cNvPr>
          <p:cNvSpPr/>
          <p:nvPr/>
        </p:nvSpPr>
        <p:spPr>
          <a:xfrm>
            <a:off x="11391999" y="7238948"/>
            <a:ext cx="3146961" cy="899212"/>
          </a:xfrm>
          <a:prstGeom prst="rect">
            <a:avLst/>
          </a:prstGeom>
          <a:solidFill>
            <a:srgbClr val="272525"/>
          </a:solidFill>
          <a:ln>
            <a:solidFill>
              <a:srgbClr val="2725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D89EA87-A37D-12F5-67A0-2ADDAD2D8C06}"/>
              </a:ext>
            </a:extLst>
          </p:cNvPr>
          <p:cNvSpPr txBox="1"/>
          <p:nvPr/>
        </p:nvSpPr>
        <p:spPr>
          <a:xfrm>
            <a:off x="8734302" y="5356321"/>
            <a:ext cx="4892633" cy="1938992"/>
          </a:xfrm>
          <a:prstGeom prst="rect">
            <a:avLst/>
          </a:prstGeom>
          <a:noFill/>
        </p:spPr>
        <p:txBody>
          <a:bodyPr wrap="square" rtlCol="0">
            <a:spAutoFit/>
          </a:bodyPr>
          <a:lstStyle/>
          <a:p>
            <a:r>
              <a:rPr lang="en-US" sz="2000" dirty="0">
                <a:latin typeface="Algerian" panose="04020705040A02060702" pitchFamily="82" charset="0"/>
              </a:rPr>
              <a:t> </a:t>
            </a:r>
            <a:r>
              <a:rPr lang="en-US" sz="3200" dirty="0">
                <a:solidFill>
                  <a:schemeClr val="bg1"/>
                </a:solidFill>
                <a:latin typeface="Algerian" panose="04020705040A02060702" pitchFamily="82" charset="0"/>
              </a:rPr>
              <a:t>Group</a:t>
            </a:r>
            <a:r>
              <a:rPr lang="en-US" sz="3200" dirty="0">
                <a:latin typeface="Algerian" panose="04020705040A02060702" pitchFamily="82" charset="0"/>
              </a:rPr>
              <a:t> </a:t>
            </a:r>
            <a:r>
              <a:rPr lang="en-US" sz="3200" dirty="0">
                <a:solidFill>
                  <a:schemeClr val="bg1">
                    <a:lumMod val="95000"/>
                  </a:schemeClr>
                </a:solidFill>
                <a:latin typeface="Algerian" panose="04020705040A02060702" pitchFamily="82" charset="0"/>
              </a:rPr>
              <a:t>Members</a:t>
            </a:r>
          </a:p>
          <a:p>
            <a:r>
              <a:rPr lang="en-US" sz="2800" dirty="0">
                <a:solidFill>
                  <a:schemeClr val="bg1">
                    <a:lumMod val="95000"/>
                  </a:schemeClr>
                </a:solidFill>
              </a:rPr>
              <a:t>Umer Shafiq 628</a:t>
            </a:r>
          </a:p>
          <a:p>
            <a:r>
              <a:rPr lang="en-US" sz="2800" dirty="0">
                <a:solidFill>
                  <a:schemeClr val="bg1">
                    <a:lumMod val="95000"/>
                  </a:schemeClr>
                </a:solidFill>
              </a:rPr>
              <a:t>M fezan 466</a:t>
            </a:r>
          </a:p>
          <a:p>
            <a:endParaRPr lang="en-US" sz="3200" dirty="0">
              <a:latin typeface="Algerian" panose="04020705040A020607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36876"/>
            <a:ext cx="14630400" cy="8229600"/>
          </a:xfrm>
          <a:prstGeom prst="rect">
            <a:avLst/>
          </a:prstGeom>
          <a:solidFill>
            <a:srgbClr val="272525"/>
          </a:solidFill>
          <a:ln/>
        </p:spPr>
        <p:txBody>
          <a:bodyPr/>
          <a:lstStyle/>
          <a:p>
            <a:endParaRPr lang="en-US"/>
          </a:p>
        </p:txBody>
      </p:sp>
      <p:sp>
        <p:nvSpPr>
          <p:cNvPr id="4" name="Text 2"/>
          <p:cNvSpPr/>
          <p:nvPr/>
        </p:nvSpPr>
        <p:spPr>
          <a:xfrm>
            <a:off x="2037992" y="593767"/>
            <a:ext cx="10763607" cy="1560792"/>
          </a:xfrm>
          <a:prstGeom prst="rect">
            <a:avLst/>
          </a:prstGeom>
          <a:noFill/>
          <a:ln/>
        </p:spPr>
        <p:txBody>
          <a:bodyPr wrap="squar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Lahore's Public Transportation: Metrobus, Speedobus, Orange Train</a:t>
            </a:r>
            <a:endParaRPr lang="en-US" sz="4374" dirty="0"/>
          </a:p>
        </p:txBody>
      </p:sp>
      <p:sp>
        <p:nvSpPr>
          <p:cNvPr id="5" name="Shape 3"/>
          <p:cNvSpPr/>
          <p:nvPr/>
        </p:nvSpPr>
        <p:spPr>
          <a:xfrm>
            <a:off x="2037993" y="2642889"/>
            <a:ext cx="388739" cy="388739"/>
          </a:xfrm>
          <a:prstGeom prst="roundRect">
            <a:avLst>
              <a:gd name="adj" fmla="val 25722"/>
            </a:avLst>
          </a:prstGeom>
          <a:solidFill>
            <a:srgbClr val="110080"/>
          </a:solidFill>
          <a:ln w="7620">
            <a:solidFill>
              <a:srgbClr val="2A1999"/>
            </a:solidFill>
            <a:prstDash val="solid"/>
          </a:ln>
        </p:spPr>
        <p:txBody>
          <a:bodyPr/>
          <a:lstStyle/>
          <a:p>
            <a:endParaRPr lang="en-US"/>
          </a:p>
        </p:txBody>
      </p:sp>
      <p:sp>
        <p:nvSpPr>
          <p:cNvPr id="6" name="Text 4"/>
          <p:cNvSpPr/>
          <p:nvPr/>
        </p:nvSpPr>
        <p:spPr>
          <a:xfrm>
            <a:off x="2648903" y="2748327"/>
            <a:ext cx="2991876" cy="422386"/>
          </a:xfrm>
          <a:prstGeom prst="rect">
            <a:avLst/>
          </a:prstGeom>
          <a:noFill/>
          <a:ln/>
        </p:spPr>
        <p:txBody>
          <a:bodyPr wrap="none" rtlCol="0" anchor="t"/>
          <a:lstStyle/>
          <a:p>
            <a:pPr marL="0" indent="0">
              <a:lnSpc>
                <a:spcPts val="2734"/>
              </a:lnSpc>
              <a:buNone/>
            </a:pPr>
            <a:r>
              <a:rPr lang="en-US" sz="3200" b="1" kern="0" spc="-66" dirty="0">
                <a:solidFill>
                  <a:srgbClr val="E5E0DF"/>
                </a:solidFill>
                <a:latin typeface="Algerian" panose="04020705040A02060702" pitchFamily="82" charset="0"/>
                <a:ea typeface="Inter" pitchFamily="34" charset="-122"/>
                <a:cs typeface="Inter" pitchFamily="34" charset="-120"/>
              </a:rPr>
              <a:t>Metrobus</a:t>
            </a:r>
            <a:endParaRPr lang="en-US" sz="3200" dirty="0">
              <a:latin typeface="Algerian" panose="04020705040A02060702" pitchFamily="82" charset="0"/>
            </a:endParaRPr>
          </a:p>
        </p:txBody>
      </p:sp>
      <p:sp>
        <p:nvSpPr>
          <p:cNvPr id="7" name="Text 5"/>
          <p:cNvSpPr/>
          <p:nvPr/>
        </p:nvSpPr>
        <p:spPr>
          <a:xfrm>
            <a:off x="2648903" y="3207589"/>
            <a:ext cx="4357539" cy="1712669"/>
          </a:xfrm>
          <a:prstGeom prst="rect">
            <a:avLst/>
          </a:prstGeom>
          <a:noFill/>
          <a:ln/>
        </p:spPr>
        <p:txBody>
          <a:bodyPr wrap="square" rtlCol="0" anchor="t"/>
          <a:lstStyle/>
          <a:p>
            <a:pPr marL="0" indent="0">
              <a:lnSpc>
                <a:spcPts val="2624"/>
              </a:lnSpc>
              <a:buNone/>
            </a:pPr>
            <a:r>
              <a:rPr lang="en-US" sz="3200" kern="0" spc="-35" dirty="0">
                <a:solidFill>
                  <a:srgbClr val="E5E0DF"/>
                </a:solidFill>
                <a:latin typeface="Inter" pitchFamily="34" charset="0"/>
                <a:ea typeface="Inter" pitchFamily="34" charset="-122"/>
                <a:cs typeface="Inter" pitchFamily="34" charset="-120"/>
              </a:rPr>
              <a:t>The Metrobus is a rapid transit bus system serving Lahore, providing a high-capacity, reliable mode of transportation.</a:t>
            </a:r>
          </a:p>
          <a:p>
            <a:pPr marL="0" indent="0">
              <a:lnSpc>
                <a:spcPts val="2624"/>
              </a:lnSpc>
              <a:buNone/>
            </a:pPr>
            <a:endParaRPr lang="en-US" sz="3200" dirty="0"/>
          </a:p>
        </p:txBody>
      </p:sp>
      <p:sp>
        <p:nvSpPr>
          <p:cNvPr id="8" name="Shape 6"/>
          <p:cNvSpPr/>
          <p:nvPr/>
        </p:nvSpPr>
        <p:spPr>
          <a:xfrm>
            <a:off x="7419795" y="2642888"/>
            <a:ext cx="388739" cy="388739"/>
          </a:xfrm>
          <a:prstGeom prst="roundRect">
            <a:avLst>
              <a:gd name="adj" fmla="val 25722"/>
            </a:avLst>
          </a:prstGeom>
          <a:solidFill>
            <a:srgbClr val="110080"/>
          </a:solidFill>
          <a:ln w="7620">
            <a:solidFill>
              <a:srgbClr val="2A1999"/>
            </a:solidFill>
            <a:prstDash val="solid"/>
          </a:ln>
        </p:spPr>
        <p:txBody>
          <a:bodyPr/>
          <a:lstStyle/>
          <a:p>
            <a:endParaRPr lang="en-US" dirty="0"/>
          </a:p>
        </p:txBody>
      </p:sp>
      <p:sp>
        <p:nvSpPr>
          <p:cNvPr id="9" name="Text 7"/>
          <p:cNvSpPr/>
          <p:nvPr/>
        </p:nvSpPr>
        <p:spPr>
          <a:xfrm>
            <a:off x="8037195" y="2642889"/>
            <a:ext cx="2579345" cy="388739"/>
          </a:xfrm>
          <a:prstGeom prst="rect">
            <a:avLst/>
          </a:prstGeom>
          <a:noFill/>
          <a:ln/>
        </p:spPr>
        <p:txBody>
          <a:bodyPr wrap="none" rtlCol="0" anchor="t"/>
          <a:lstStyle/>
          <a:p>
            <a:pPr marL="0" indent="0">
              <a:lnSpc>
                <a:spcPts val="2734"/>
              </a:lnSpc>
              <a:buNone/>
            </a:pPr>
            <a:r>
              <a:rPr lang="en-US" sz="3200" b="1" kern="0" spc="-66" dirty="0">
                <a:solidFill>
                  <a:srgbClr val="E5E0DF"/>
                </a:solidFill>
                <a:latin typeface="Algerian" panose="04020705040A02060702" pitchFamily="82" charset="0"/>
                <a:ea typeface="Inter" pitchFamily="34" charset="-122"/>
                <a:cs typeface="Inter" pitchFamily="34" charset="-120"/>
              </a:rPr>
              <a:t>Speedobus</a:t>
            </a:r>
            <a:endParaRPr lang="en-US" sz="3200" dirty="0">
              <a:latin typeface="Algerian" panose="04020705040A02060702" pitchFamily="82" charset="0"/>
            </a:endParaRPr>
          </a:p>
        </p:txBody>
      </p:sp>
      <p:sp>
        <p:nvSpPr>
          <p:cNvPr id="10" name="Text 8"/>
          <p:cNvSpPr/>
          <p:nvPr/>
        </p:nvSpPr>
        <p:spPr>
          <a:xfrm>
            <a:off x="8037195" y="3068504"/>
            <a:ext cx="4764404" cy="1851754"/>
          </a:xfrm>
          <a:prstGeom prst="rect">
            <a:avLst/>
          </a:prstGeom>
          <a:noFill/>
          <a:ln/>
        </p:spPr>
        <p:txBody>
          <a:bodyPr wrap="square" rtlCol="0" anchor="t"/>
          <a:lstStyle/>
          <a:p>
            <a:pPr marL="0" indent="0">
              <a:lnSpc>
                <a:spcPts val="2624"/>
              </a:lnSpc>
              <a:buNone/>
            </a:pPr>
            <a:r>
              <a:rPr lang="en-US" sz="3200" kern="0" spc="-35" dirty="0">
                <a:solidFill>
                  <a:srgbClr val="E5E0DF"/>
                </a:solidFill>
                <a:latin typeface="Abadi" panose="020B0604020104020204" pitchFamily="34" charset="0"/>
                <a:ea typeface="Inter" pitchFamily="34" charset="-122"/>
                <a:cs typeface="Inter" pitchFamily="34" charset="-120"/>
              </a:rPr>
              <a:t>The Speedobus is a network of bus routes operating on dedicated lanes to enhance speed and efficiency.</a:t>
            </a:r>
            <a:endParaRPr lang="en-US" sz="3200" dirty="0">
              <a:latin typeface="Abadi" panose="020B0604020104020204" pitchFamily="34" charset="0"/>
            </a:endParaRPr>
          </a:p>
        </p:txBody>
      </p:sp>
      <p:sp>
        <p:nvSpPr>
          <p:cNvPr id="11" name="Shape 9"/>
          <p:cNvSpPr/>
          <p:nvPr/>
        </p:nvSpPr>
        <p:spPr>
          <a:xfrm>
            <a:off x="2037993" y="5392341"/>
            <a:ext cx="388739" cy="388739"/>
          </a:xfrm>
          <a:prstGeom prst="roundRect">
            <a:avLst>
              <a:gd name="adj" fmla="val 25722"/>
            </a:avLst>
          </a:prstGeom>
          <a:solidFill>
            <a:srgbClr val="110080"/>
          </a:solidFill>
          <a:ln w="7620">
            <a:solidFill>
              <a:srgbClr val="2A1999"/>
            </a:solidFill>
            <a:prstDash val="solid"/>
          </a:ln>
        </p:spPr>
        <p:txBody>
          <a:bodyPr/>
          <a:lstStyle/>
          <a:p>
            <a:endParaRPr lang="en-US"/>
          </a:p>
        </p:txBody>
      </p:sp>
      <p:sp>
        <p:nvSpPr>
          <p:cNvPr id="12" name="Text 10"/>
          <p:cNvSpPr/>
          <p:nvPr/>
        </p:nvSpPr>
        <p:spPr>
          <a:xfrm>
            <a:off x="2648903" y="5392341"/>
            <a:ext cx="2777490" cy="347186"/>
          </a:xfrm>
          <a:prstGeom prst="rect">
            <a:avLst/>
          </a:prstGeom>
          <a:noFill/>
          <a:ln/>
        </p:spPr>
        <p:txBody>
          <a:bodyPr wrap="none" rtlCol="0" anchor="t"/>
          <a:lstStyle/>
          <a:p>
            <a:pPr marL="0" indent="0">
              <a:lnSpc>
                <a:spcPts val="2734"/>
              </a:lnSpc>
              <a:buNone/>
            </a:pPr>
            <a:r>
              <a:rPr lang="en-US" sz="3200" b="1" kern="0" spc="-66" dirty="0">
                <a:solidFill>
                  <a:srgbClr val="E5E0DF"/>
                </a:solidFill>
                <a:latin typeface="Algerian" panose="04020705040A02060702" pitchFamily="82" charset="0"/>
                <a:ea typeface="Inter" pitchFamily="34" charset="-122"/>
                <a:cs typeface="Inter" pitchFamily="34" charset="-120"/>
              </a:rPr>
              <a:t>Orange Train</a:t>
            </a:r>
            <a:endParaRPr lang="en-US" sz="3200" dirty="0">
              <a:latin typeface="Algerian" panose="04020705040A02060702" pitchFamily="82" charset="0"/>
            </a:endParaRPr>
          </a:p>
        </p:txBody>
      </p:sp>
      <p:sp>
        <p:nvSpPr>
          <p:cNvPr id="13" name="Text 11"/>
          <p:cNvSpPr/>
          <p:nvPr/>
        </p:nvSpPr>
        <p:spPr>
          <a:xfrm>
            <a:off x="2648903" y="5872758"/>
            <a:ext cx="4555212" cy="1366190"/>
          </a:xfrm>
          <a:prstGeom prst="rect">
            <a:avLst/>
          </a:prstGeom>
          <a:noFill/>
          <a:ln/>
        </p:spPr>
        <p:txBody>
          <a:bodyPr wrap="square" rtlCol="0" anchor="t"/>
          <a:lstStyle/>
          <a:p>
            <a:pPr marL="0" indent="0">
              <a:lnSpc>
                <a:spcPts val="2624"/>
              </a:lnSpc>
              <a:buNone/>
            </a:pPr>
            <a:r>
              <a:rPr lang="en-US" sz="3200" kern="0" spc="-35" dirty="0">
                <a:solidFill>
                  <a:srgbClr val="E5E0DF"/>
                </a:solidFill>
                <a:latin typeface="Inter" pitchFamily="34" charset="0"/>
                <a:ea typeface="Inter" pitchFamily="34" charset="-122"/>
                <a:cs typeface="Inter" pitchFamily="34" charset="-120"/>
              </a:rPr>
              <a:t>The Orange Train is an elevated light rail system that provides fast and comfortable travel across the city.</a:t>
            </a:r>
            <a:endParaRPr lang="en-US" sz="3200" dirty="0"/>
          </a:p>
        </p:txBody>
      </p:sp>
      <p:sp>
        <p:nvSpPr>
          <p:cNvPr id="14" name="Shape 12"/>
          <p:cNvSpPr/>
          <p:nvPr/>
        </p:nvSpPr>
        <p:spPr>
          <a:xfrm>
            <a:off x="7426285" y="5165766"/>
            <a:ext cx="388739" cy="388739"/>
          </a:xfrm>
          <a:prstGeom prst="roundRect">
            <a:avLst>
              <a:gd name="adj" fmla="val 25722"/>
            </a:avLst>
          </a:prstGeom>
          <a:solidFill>
            <a:srgbClr val="110080"/>
          </a:solidFill>
          <a:ln w="7620">
            <a:solidFill>
              <a:srgbClr val="2A1999"/>
            </a:solidFill>
            <a:prstDash val="solid"/>
          </a:ln>
        </p:spPr>
        <p:txBody>
          <a:bodyPr/>
          <a:lstStyle/>
          <a:p>
            <a:endParaRPr lang="en-US" dirty="0"/>
          </a:p>
        </p:txBody>
      </p:sp>
      <p:sp>
        <p:nvSpPr>
          <p:cNvPr id="15" name="Text 13"/>
          <p:cNvSpPr/>
          <p:nvPr/>
        </p:nvSpPr>
        <p:spPr>
          <a:xfrm>
            <a:off x="8037195" y="5165766"/>
            <a:ext cx="2777490" cy="573761"/>
          </a:xfrm>
          <a:prstGeom prst="rect">
            <a:avLst/>
          </a:prstGeom>
          <a:noFill/>
          <a:ln/>
        </p:spPr>
        <p:txBody>
          <a:bodyPr wrap="none" rtlCol="0" anchor="t"/>
          <a:lstStyle/>
          <a:p>
            <a:pPr marL="0" indent="0">
              <a:lnSpc>
                <a:spcPts val="2734"/>
              </a:lnSpc>
              <a:buNone/>
            </a:pPr>
            <a:r>
              <a:rPr lang="en-US" sz="3200" b="1" kern="0" spc="-66" dirty="0">
                <a:solidFill>
                  <a:srgbClr val="E5E0DF"/>
                </a:solidFill>
                <a:latin typeface="Algerian" panose="04020705040A02060702" pitchFamily="82" charset="0"/>
                <a:ea typeface="Inter" pitchFamily="34" charset="-122"/>
                <a:cs typeface="Inter" pitchFamily="34" charset="-120"/>
              </a:rPr>
              <a:t>Integrated System</a:t>
            </a:r>
            <a:endParaRPr lang="en-US" sz="3200" dirty="0">
              <a:latin typeface="Algerian" panose="04020705040A02060702" pitchFamily="82" charset="0"/>
            </a:endParaRPr>
          </a:p>
        </p:txBody>
      </p:sp>
      <p:sp>
        <p:nvSpPr>
          <p:cNvPr id="16" name="Text 14"/>
          <p:cNvSpPr/>
          <p:nvPr/>
        </p:nvSpPr>
        <p:spPr>
          <a:xfrm>
            <a:off x="8037195" y="5554505"/>
            <a:ext cx="4555212" cy="1318021"/>
          </a:xfrm>
          <a:prstGeom prst="rect">
            <a:avLst/>
          </a:prstGeom>
          <a:noFill/>
          <a:ln/>
        </p:spPr>
        <p:txBody>
          <a:bodyPr wrap="square" rtlCol="0" anchor="t"/>
          <a:lstStyle/>
          <a:p>
            <a:pPr marL="0" indent="0">
              <a:lnSpc>
                <a:spcPts val="2624"/>
              </a:lnSpc>
              <a:buNone/>
            </a:pPr>
            <a:r>
              <a:rPr lang="en-US" sz="3200" kern="0" spc="-35" dirty="0">
                <a:solidFill>
                  <a:srgbClr val="E5E0DF"/>
                </a:solidFill>
                <a:latin typeface="Abadi" panose="020B0604020104020204" pitchFamily="34" charset="0"/>
                <a:ea typeface="Inter" pitchFamily="34" charset="-122"/>
                <a:cs typeface="Inter" pitchFamily="34" charset="-120"/>
              </a:rPr>
              <a:t>These three systems work together to form a comprehensive and integrated network, providing multiple options for travelers.</a:t>
            </a:r>
            <a:endParaRPr lang="en-US" sz="3200" dirty="0">
              <a:latin typeface="Abadi" panose="020B0604020104020204" pitchFamily="34" charset="0"/>
            </a:endParaRPr>
          </a:p>
        </p:txBody>
      </p:sp>
      <p:pic>
        <p:nvPicPr>
          <p:cNvPr id="17"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
        <p:nvSpPr>
          <p:cNvPr id="18" name="Rectangle 17">
            <a:extLst>
              <a:ext uri="{FF2B5EF4-FFF2-40B4-BE49-F238E27FC236}">
                <a16:creationId xmlns:a16="http://schemas.microsoft.com/office/drawing/2014/main" id="{6A0EF854-34D5-6F94-BBFC-7260203D8F88}"/>
              </a:ext>
            </a:extLst>
          </p:cNvPr>
          <p:cNvSpPr/>
          <p:nvPr/>
        </p:nvSpPr>
        <p:spPr>
          <a:xfrm>
            <a:off x="11887200" y="7137070"/>
            <a:ext cx="2651760" cy="1001090"/>
          </a:xfrm>
          <a:prstGeom prst="rect">
            <a:avLst/>
          </a:prstGeom>
          <a:solidFill>
            <a:srgbClr val="272525"/>
          </a:solidFill>
          <a:ln>
            <a:solidFill>
              <a:srgbClr val="2725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animEffect transition="in" filter="fade">
                                      <p:cBhvr>
                                        <p:cTn id="33" dur="1000"/>
                                        <p:tgtEl>
                                          <p:spTgt spid="16">
                                            <p:txEl>
                                              <p:pRg st="0" end="0"/>
                                            </p:txEl>
                                          </p:spTgt>
                                        </p:tgtEl>
                                      </p:cBhvr>
                                    </p:animEffect>
                                    <p:anim calcmode="lin" valueType="num">
                                      <p:cBhvr>
                                        <p:cTn id="34"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91440" y="-91440"/>
            <a:ext cx="14630400" cy="8229600"/>
          </a:xfrm>
          <a:prstGeom prst="rect">
            <a:avLst/>
          </a:prstGeom>
          <a:solidFill>
            <a:srgbClr val="272525"/>
          </a:solidFill>
          <a:ln/>
        </p:spPr>
        <p:txBody>
          <a:bodyPr/>
          <a:lstStyle/>
          <a:p>
            <a:endParaRPr lang="en-US"/>
          </a:p>
        </p:txBody>
      </p:sp>
      <p:sp>
        <p:nvSpPr>
          <p:cNvPr id="4" name="Text 2"/>
          <p:cNvSpPr/>
          <p:nvPr/>
        </p:nvSpPr>
        <p:spPr>
          <a:xfrm>
            <a:off x="2037993" y="306349"/>
            <a:ext cx="9659202" cy="964311"/>
          </a:xfrm>
          <a:prstGeom prst="rect">
            <a:avLst/>
          </a:prstGeom>
          <a:noFill/>
          <a:ln/>
        </p:spPr>
        <p:txBody>
          <a:bodyPr wrap="none" rtlCol="0" anchor="t"/>
          <a:lstStyle/>
          <a:p>
            <a:pPr marL="0" indent="0">
              <a:lnSpc>
                <a:spcPts val="5468"/>
              </a:lnSpc>
              <a:buNone/>
            </a:pPr>
            <a:r>
              <a:rPr lang="en-US" sz="4800" b="1" kern="0" spc="-131" dirty="0">
                <a:solidFill>
                  <a:srgbClr val="FFFFFF"/>
                </a:solidFill>
                <a:latin typeface="Inter" pitchFamily="34" charset="0"/>
                <a:ea typeface="Inter" pitchFamily="34" charset="-122"/>
                <a:cs typeface="Inter" pitchFamily="34" charset="-120"/>
              </a:rPr>
              <a:t>Project Overview: Features and Goals</a:t>
            </a:r>
            <a:endParaRPr lang="en-US" sz="4800" dirty="0"/>
          </a:p>
        </p:txBody>
      </p:sp>
      <p:pic>
        <p:nvPicPr>
          <p:cNvPr id="5" name="Image 0" descr="preencoded.png"/>
          <p:cNvPicPr>
            <a:picLocks noChangeAspect="1"/>
          </p:cNvPicPr>
          <p:nvPr/>
        </p:nvPicPr>
        <p:blipFill>
          <a:blip r:embed="rId3"/>
          <a:stretch>
            <a:fillRect/>
          </a:stretch>
        </p:blipFill>
        <p:spPr>
          <a:xfrm>
            <a:off x="1800487" y="1373119"/>
            <a:ext cx="2388632" cy="1476256"/>
          </a:xfrm>
          <a:prstGeom prst="rect">
            <a:avLst/>
          </a:prstGeom>
        </p:spPr>
      </p:pic>
      <p:sp>
        <p:nvSpPr>
          <p:cNvPr id="6" name="Text 3"/>
          <p:cNvSpPr/>
          <p:nvPr/>
        </p:nvSpPr>
        <p:spPr>
          <a:xfrm>
            <a:off x="1800487" y="2951835"/>
            <a:ext cx="2712136" cy="768273"/>
          </a:xfrm>
          <a:prstGeom prst="rect">
            <a:avLst/>
          </a:prstGeom>
          <a:noFill/>
          <a:ln/>
        </p:spPr>
        <p:txBody>
          <a:bodyPr wrap="square" rtlCol="0" anchor="t"/>
          <a:lstStyle/>
          <a:p>
            <a:pPr marL="0" indent="0" algn="l">
              <a:lnSpc>
                <a:spcPts val="2734"/>
              </a:lnSpc>
              <a:buNone/>
            </a:pPr>
            <a:r>
              <a:rPr lang="en-US" sz="2400" b="1" kern="0" spc="-66" dirty="0">
                <a:solidFill>
                  <a:srgbClr val="E5E0DF"/>
                </a:solidFill>
                <a:latin typeface="Algerian" panose="04020705040A02060702" pitchFamily="82" charset="0"/>
                <a:ea typeface="Inter" pitchFamily="34" charset="-122"/>
                <a:cs typeface="Inter" pitchFamily="34" charset="-120"/>
              </a:rPr>
              <a:t>Comprehensive Station Data</a:t>
            </a:r>
            <a:endParaRPr lang="en-US" sz="2400" dirty="0">
              <a:latin typeface="Algerian" panose="04020705040A02060702" pitchFamily="82" charset="0"/>
            </a:endParaRPr>
          </a:p>
        </p:txBody>
      </p:sp>
      <p:sp>
        <p:nvSpPr>
          <p:cNvPr id="7" name="Text 4"/>
          <p:cNvSpPr/>
          <p:nvPr/>
        </p:nvSpPr>
        <p:spPr>
          <a:xfrm>
            <a:off x="1800487" y="3980854"/>
            <a:ext cx="2388632" cy="3160395"/>
          </a:xfrm>
          <a:prstGeom prst="rect">
            <a:avLst/>
          </a:prstGeom>
          <a:noFill/>
          <a:ln/>
        </p:spPr>
        <p:txBody>
          <a:bodyPr wrap="square" rtlCol="0" anchor="t"/>
          <a:lstStyle/>
          <a:p>
            <a:pPr marL="0" indent="0" algn="l">
              <a:lnSpc>
                <a:spcPts val="2624"/>
              </a:lnSpc>
              <a:buNone/>
            </a:pPr>
            <a:r>
              <a:rPr lang="en-US" sz="2400" kern="0" spc="-35" dirty="0">
                <a:solidFill>
                  <a:srgbClr val="E5E0DF"/>
                </a:solidFill>
                <a:latin typeface="Abadi" panose="020B0604020104020204" pitchFamily="34" charset="0"/>
                <a:ea typeface="Inter" pitchFamily="34" charset="-122"/>
                <a:cs typeface="Inter" pitchFamily="34" charset="-120"/>
              </a:rPr>
              <a:t>The Transport Tree project will provide a comprehensive list of over 450 stations for the Metrobus, Speedobus, and Orange Train systems.</a:t>
            </a:r>
            <a:endParaRPr lang="en-US" sz="2400" dirty="0">
              <a:latin typeface="Abadi" panose="020B0604020104020204" pitchFamily="34" charset="0"/>
            </a:endParaRPr>
          </a:p>
        </p:txBody>
      </p:sp>
      <p:pic>
        <p:nvPicPr>
          <p:cNvPr id="8" name="Image 1" descr="preencoded.png"/>
          <p:cNvPicPr>
            <a:picLocks noChangeAspect="1"/>
          </p:cNvPicPr>
          <p:nvPr/>
        </p:nvPicPr>
        <p:blipFill>
          <a:blip r:embed="rId4"/>
          <a:stretch>
            <a:fillRect/>
          </a:stretch>
        </p:blipFill>
        <p:spPr>
          <a:xfrm>
            <a:off x="4522375" y="1368809"/>
            <a:ext cx="2388632" cy="1476256"/>
          </a:xfrm>
          <a:prstGeom prst="rect">
            <a:avLst/>
          </a:prstGeom>
        </p:spPr>
      </p:pic>
      <p:sp>
        <p:nvSpPr>
          <p:cNvPr id="9" name="Text 5"/>
          <p:cNvSpPr/>
          <p:nvPr/>
        </p:nvSpPr>
        <p:spPr>
          <a:xfrm>
            <a:off x="4512622" y="3075709"/>
            <a:ext cx="2481943" cy="1039091"/>
          </a:xfrm>
          <a:prstGeom prst="rect">
            <a:avLst/>
          </a:prstGeom>
          <a:noFill/>
          <a:ln/>
        </p:spPr>
        <p:txBody>
          <a:bodyPr wrap="square" rtlCol="0" anchor="t"/>
          <a:lstStyle/>
          <a:p>
            <a:pPr marL="0" indent="0" algn="l">
              <a:lnSpc>
                <a:spcPts val="2734"/>
              </a:lnSpc>
              <a:buNone/>
            </a:pPr>
            <a:r>
              <a:rPr lang="en-US" sz="2400" b="1" kern="0" spc="-66" dirty="0">
                <a:solidFill>
                  <a:srgbClr val="E5E0DF"/>
                </a:solidFill>
                <a:latin typeface="Algerian" panose="04020705040A02060702" pitchFamily="82" charset="0"/>
                <a:ea typeface="Inter" pitchFamily="34" charset="-122"/>
                <a:cs typeface="Inter" pitchFamily="34" charset="-120"/>
              </a:rPr>
              <a:t>Automated Ticket Generation</a:t>
            </a:r>
            <a:endParaRPr lang="en-US" sz="2400" dirty="0">
              <a:latin typeface="Algerian" panose="04020705040A02060702" pitchFamily="82" charset="0"/>
            </a:endParaRPr>
          </a:p>
        </p:txBody>
      </p:sp>
      <p:sp>
        <p:nvSpPr>
          <p:cNvPr id="10" name="Text 6"/>
          <p:cNvSpPr/>
          <p:nvPr/>
        </p:nvSpPr>
        <p:spPr>
          <a:xfrm>
            <a:off x="4426745" y="4509492"/>
            <a:ext cx="2484262" cy="2298501"/>
          </a:xfrm>
          <a:prstGeom prst="rect">
            <a:avLst/>
          </a:prstGeom>
          <a:noFill/>
          <a:ln/>
        </p:spPr>
        <p:txBody>
          <a:bodyPr wrap="square" rtlCol="0" anchor="t"/>
          <a:lstStyle/>
          <a:p>
            <a:pPr marL="0" indent="0" algn="l">
              <a:lnSpc>
                <a:spcPts val="2624"/>
              </a:lnSpc>
              <a:buNone/>
            </a:pPr>
            <a:r>
              <a:rPr lang="en-US" sz="2400" kern="0" spc="-35" dirty="0">
                <a:solidFill>
                  <a:srgbClr val="E5E0DF"/>
                </a:solidFill>
                <a:latin typeface="Abadi" panose="020B0604020104020204" pitchFamily="34" charset="0"/>
                <a:ea typeface="Inter" pitchFamily="34" charset="-122"/>
                <a:cs typeface="Inter" pitchFamily="34" charset="-120"/>
              </a:rPr>
              <a:t>The system will allow users to generate tickets for all three transport systems, simplifying the ticketing process</a:t>
            </a:r>
            <a:r>
              <a:rPr lang="en-US" sz="1750" kern="0" spc="-35" dirty="0">
                <a:solidFill>
                  <a:srgbClr val="E5E0DF"/>
                </a:solidFill>
                <a:latin typeface="Inter" pitchFamily="34" charset="0"/>
                <a:ea typeface="Inter" pitchFamily="34" charset="-122"/>
                <a:cs typeface="Inter" pitchFamily="34" charset="-120"/>
              </a:rPr>
              <a:t>.</a:t>
            </a:r>
            <a:endParaRPr lang="en-US" sz="1750" dirty="0"/>
          </a:p>
        </p:txBody>
      </p:sp>
      <p:pic>
        <p:nvPicPr>
          <p:cNvPr id="11" name="Image 2" descr="preencoded.png"/>
          <p:cNvPicPr>
            <a:picLocks noChangeAspect="1"/>
          </p:cNvPicPr>
          <p:nvPr/>
        </p:nvPicPr>
        <p:blipFill>
          <a:blip r:embed="rId5"/>
          <a:stretch>
            <a:fillRect/>
          </a:stretch>
        </p:blipFill>
        <p:spPr>
          <a:xfrm>
            <a:off x="7398210" y="1373119"/>
            <a:ext cx="2388632" cy="1476256"/>
          </a:xfrm>
          <a:prstGeom prst="rect">
            <a:avLst/>
          </a:prstGeom>
        </p:spPr>
      </p:pic>
      <p:sp>
        <p:nvSpPr>
          <p:cNvPr id="12" name="Text 7"/>
          <p:cNvSpPr/>
          <p:nvPr/>
        </p:nvSpPr>
        <p:spPr>
          <a:xfrm>
            <a:off x="7315200" y="3008949"/>
            <a:ext cx="2729514" cy="711159"/>
          </a:xfrm>
          <a:prstGeom prst="rect">
            <a:avLst/>
          </a:prstGeom>
          <a:noFill/>
          <a:ln/>
        </p:spPr>
        <p:txBody>
          <a:bodyPr wrap="square" rtlCol="0" anchor="t"/>
          <a:lstStyle/>
          <a:p>
            <a:pPr marL="0" indent="0" algn="l">
              <a:lnSpc>
                <a:spcPts val="2734"/>
              </a:lnSpc>
              <a:buNone/>
            </a:pPr>
            <a:r>
              <a:rPr lang="en-US" sz="2400" b="1" kern="0" spc="-66" dirty="0">
                <a:solidFill>
                  <a:srgbClr val="E5E0DF"/>
                </a:solidFill>
                <a:latin typeface="Algerian" panose="04020705040A02060702" pitchFamily="82" charset="0"/>
                <a:ea typeface="Inter" pitchFamily="34" charset="-122"/>
                <a:cs typeface="Inter" pitchFamily="34" charset="-120"/>
              </a:rPr>
              <a:t>User-Friendly Interface</a:t>
            </a:r>
            <a:endParaRPr lang="en-US" sz="2400" dirty="0">
              <a:latin typeface="Algerian" panose="04020705040A02060702" pitchFamily="82" charset="0"/>
            </a:endParaRPr>
          </a:p>
        </p:txBody>
      </p:sp>
      <p:sp>
        <p:nvSpPr>
          <p:cNvPr id="13" name="Text 8"/>
          <p:cNvSpPr/>
          <p:nvPr/>
        </p:nvSpPr>
        <p:spPr>
          <a:xfrm>
            <a:off x="7386138" y="3980854"/>
            <a:ext cx="2484262" cy="2493884"/>
          </a:xfrm>
          <a:prstGeom prst="rect">
            <a:avLst/>
          </a:prstGeom>
          <a:noFill/>
          <a:ln/>
        </p:spPr>
        <p:txBody>
          <a:bodyPr wrap="square" rtlCol="0" anchor="t"/>
          <a:lstStyle/>
          <a:p>
            <a:pPr marL="0" indent="0" algn="l">
              <a:lnSpc>
                <a:spcPts val="2624"/>
              </a:lnSpc>
              <a:buNone/>
            </a:pPr>
            <a:r>
              <a:rPr lang="en-US" sz="2400" kern="0" spc="-35" dirty="0">
                <a:solidFill>
                  <a:srgbClr val="E5E0DF"/>
                </a:solidFill>
                <a:latin typeface="Abadi" panose="020B0604020104020204" pitchFamily="34" charset="0"/>
                <a:ea typeface="Inter" pitchFamily="34" charset="-122"/>
                <a:cs typeface="Inter" pitchFamily="34" charset="-120"/>
              </a:rPr>
              <a:t>A user-friendly interface will provide information about routes and station locations.</a:t>
            </a:r>
            <a:endParaRPr lang="en-US" sz="2400" dirty="0">
              <a:latin typeface="Abadi" panose="020B0604020104020204" pitchFamily="34" charset="0"/>
            </a:endParaRPr>
          </a:p>
        </p:txBody>
      </p:sp>
      <p:pic>
        <p:nvPicPr>
          <p:cNvPr id="14" name="Image 3" descr="preencoded.png"/>
          <p:cNvPicPr>
            <a:picLocks noChangeAspect="1"/>
          </p:cNvPicPr>
          <p:nvPr/>
        </p:nvPicPr>
        <p:blipFill>
          <a:blip r:embed="rId6"/>
          <a:stretch>
            <a:fillRect/>
          </a:stretch>
        </p:blipFill>
        <p:spPr>
          <a:xfrm>
            <a:off x="10197623" y="1389710"/>
            <a:ext cx="2388751" cy="1476256"/>
          </a:xfrm>
          <a:prstGeom prst="rect">
            <a:avLst/>
          </a:prstGeom>
        </p:spPr>
      </p:pic>
      <p:sp>
        <p:nvSpPr>
          <p:cNvPr id="15" name="Text 9"/>
          <p:cNvSpPr/>
          <p:nvPr/>
        </p:nvSpPr>
        <p:spPr>
          <a:xfrm>
            <a:off x="10203656" y="3075709"/>
            <a:ext cx="2229809" cy="1252332"/>
          </a:xfrm>
          <a:prstGeom prst="rect">
            <a:avLst/>
          </a:prstGeom>
          <a:noFill/>
          <a:ln/>
        </p:spPr>
        <p:txBody>
          <a:bodyPr wrap="none" rtlCol="0" anchor="t"/>
          <a:lstStyle/>
          <a:p>
            <a:pPr marL="0" indent="0" algn="l">
              <a:lnSpc>
                <a:spcPts val="2734"/>
              </a:lnSpc>
              <a:buNone/>
            </a:pPr>
            <a:r>
              <a:rPr lang="en-US" sz="2400" b="1" kern="0" spc="-66" dirty="0">
                <a:solidFill>
                  <a:srgbClr val="E5E0DF"/>
                </a:solidFill>
                <a:latin typeface="Algerian" panose="04020705040A02060702" pitchFamily="82" charset="0"/>
                <a:ea typeface="Inter" pitchFamily="34" charset="-122"/>
                <a:cs typeface="Inter" pitchFamily="34" charset="-120"/>
              </a:rPr>
              <a:t>Favorite Stations</a:t>
            </a:r>
            <a:endParaRPr lang="en-US" sz="2400" dirty="0">
              <a:latin typeface="Algerian" panose="04020705040A02060702" pitchFamily="82" charset="0"/>
            </a:endParaRPr>
          </a:p>
        </p:txBody>
      </p:sp>
      <p:sp>
        <p:nvSpPr>
          <p:cNvPr id="16" name="Text 10"/>
          <p:cNvSpPr/>
          <p:nvPr/>
        </p:nvSpPr>
        <p:spPr>
          <a:xfrm>
            <a:off x="10287214" y="3598223"/>
            <a:ext cx="2305193" cy="2862585"/>
          </a:xfrm>
          <a:prstGeom prst="rect">
            <a:avLst/>
          </a:prstGeom>
          <a:noFill/>
          <a:ln/>
        </p:spPr>
        <p:txBody>
          <a:bodyPr wrap="square" rtlCol="0" anchor="t"/>
          <a:lstStyle/>
          <a:p>
            <a:pPr marL="0" indent="0" algn="l">
              <a:lnSpc>
                <a:spcPts val="2624"/>
              </a:lnSpc>
              <a:buNone/>
            </a:pPr>
            <a:r>
              <a:rPr lang="en-US" sz="2400" kern="0" spc="-35" dirty="0">
                <a:solidFill>
                  <a:srgbClr val="E5E0DF"/>
                </a:solidFill>
                <a:latin typeface="Abadi" panose="020B0604020104020204" pitchFamily="34" charset="0"/>
                <a:ea typeface="Inter" pitchFamily="34" charset="-122"/>
                <a:cs typeface="Inter" pitchFamily="34" charset="-120"/>
              </a:rPr>
              <a:t>The project allows users to create a personalized list of their favorite stations for quick and easy access.</a:t>
            </a:r>
            <a:endParaRPr lang="en-US" sz="2400" dirty="0">
              <a:latin typeface="Abadi" panose="020B0604020104020204" pitchFamily="34" charset="0"/>
            </a:endParaRPr>
          </a:p>
        </p:txBody>
      </p:sp>
      <p:pic>
        <p:nvPicPr>
          <p:cNvPr id="17" name="Image 4" descr="preencoded.png">
            <a:hlinkClick r:id="rId7"/>
          </p:cNvPr>
          <p:cNvPicPr>
            <a:picLocks noChangeAspect="1"/>
          </p:cNvPicPr>
          <p:nvPr/>
        </p:nvPicPr>
        <p:blipFill>
          <a:blip r:embed="rId8"/>
          <a:stretch>
            <a:fillRect/>
          </a:stretch>
        </p:blipFill>
        <p:spPr>
          <a:xfrm>
            <a:off x="12242153" y="7589520"/>
            <a:ext cx="2296807" cy="548640"/>
          </a:xfrm>
          <a:prstGeom prst="rect">
            <a:avLst/>
          </a:prstGeom>
        </p:spPr>
      </p:pic>
      <p:sp>
        <p:nvSpPr>
          <p:cNvPr id="18" name="Rectangle 17">
            <a:extLst>
              <a:ext uri="{FF2B5EF4-FFF2-40B4-BE49-F238E27FC236}">
                <a16:creationId xmlns:a16="http://schemas.microsoft.com/office/drawing/2014/main" id="{2546C3FE-46E7-938D-2F6B-EA41B355AFF0}"/>
              </a:ext>
            </a:extLst>
          </p:cNvPr>
          <p:cNvSpPr/>
          <p:nvPr/>
        </p:nvSpPr>
        <p:spPr>
          <a:xfrm>
            <a:off x="11391999" y="7238948"/>
            <a:ext cx="3146961" cy="899212"/>
          </a:xfrm>
          <a:prstGeom prst="rect">
            <a:avLst/>
          </a:prstGeom>
          <a:solidFill>
            <a:srgbClr val="272525"/>
          </a:solidFill>
          <a:ln>
            <a:solidFill>
              <a:srgbClr val="2725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47501" y="-658773"/>
            <a:ext cx="14630400" cy="8888373"/>
          </a:xfrm>
          <a:prstGeom prst="rect">
            <a:avLst/>
          </a:prstGeom>
          <a:solidFill>
            <a:srgbClr val="272525"/>
          </a:solidFill>
          <a:ln/>
        </p:spPr>
        <p:txBody>
          <a:bodyPr/>
          <a:lstStyle/>
          <a:p>
            <a:endParaRPr lang="en-US" dirty="0"/>
          </a:p>
        </p:txBody>
      </p:sp>
      <p:sp>
        <p:nvSpPr>
          <p:cNvPr id="5" name="Text 2"/>
          <p:cNvSpPr/>
          <p:nvPr/>
        </p:nvSpPr>
        <p:spPr>
          <a:xfrm>
            <a:off x="1864426" y="356260"/>
            <a:ext cx="10996551" cy="1247928"/>
          </a:xfrm>
          <a:prstGeom prst="rect">
            <a:avLst/>
          </a:prstGeom>
          <a:noFill/>
          <a:ln/>
        </p:spPr>
        <p:txBody>
          <a:bodyPr wrap="square" rtlCol="0" anchor="t"/>
          <a:lstStyle/>
          <a:p>
            <a:pPr marL="0" indent="0">
              <a:lnSpc>
                <a:spcPts val="3827"/>
              </a:lnSpc>
              <a:buNone/>
            </a:pPr>
            <a:r>
              <a:rPr lang="en-US" sz="3200" b="1" kern="0" spc="-92" dirty="0">
                <a:solidFill>
                  <a:srgbClr val="FFFFFF"/>
                </a:solidFill>
                <a:latin typeface="Algerian" panose="04020705040A02060702" pitchFamily="82" charset="0"/>
                <a:ea typeface="Inter" pitchFamily="34" charset="-122"/>
                <a:cs typeface="Inter" pitchFamily="34" charset="-120"/>
              </a:rPr>
              <a:t>Input Validation with  iostream Library Functions</a:t>
            </a:r>
            <a:endParaRPr lang="en-US" sz="3200" dirty="0">
              <a:latin typeface="Algerian" panose="04020705040A02060702" pitchFamily="82" charset="0"/>
            </a:endParaRPr>
          </a:p>
        </p:txBody>
      </p:sp>
      <p:sp>
        <p:nvSpPr>
          <p:cNvPr id="6" name="Shape 3"/>
          <p:cNvSpPr/>
          <p:nvPr/>
        </p:nvSpPr>
        <p:spPr>
          <a:xfrm flipH="1">
            <a:off x="7319091" y="2192335"/>
            <a:ext cx="113526" cy="5192435"/>
          </a:xfrm>
          <a:prstGeom prst="roundRect">
            <a:avLst>
              <a:gd name="adj" fmla="val 225238"/>
            </a:avLst>
          </a:prstGeom>
          <a:solidFill>
            <a:srgbClr val="2A1999"/>
          </a:solidFill>
          <a:ln/>
        </p:spPr>
        <p:txBody>
          <a:bodyPr/>
          <a:lstStyle/>
          <a:p>
            <a:endParaRPr lang="en-US" dirty="0"/>
          </a:p>
        </p:txBody>
      </p:sp>
      <p:sp>
        <p:nvSpPr>
          <p:cNvPr id="7" name="Shape 4"/>
          <p:cNvSpPr/>
          <p:nvPr/>
        </p:nvSpPr>
        <p:spPr>
          <a:xfrm>
            <a:off x="6611231" y="2105859"/>
            <a:ext cx="544354" cy="31075"/>
          </a:xfrm>
          <a:prstGeom prst="roundRect">
            <a:avLst>
              <a:gd name="adj" fmla="val 225238"/>
            </a:avLst>
          </a:prstGeom>
          <a:solidFill>
            <a:srgbClr val="2A1999"/>
          </a:solidFill>
          <a:ln/>
        </p:spPr>
        <p:txBody>
          <a:bodyPr/>
          <a:lstStyle/>
          <a:p>
            <a:endParaRPr lang="en-US"/>
          </a:p>
        </p:txBody>
      </p:sp>
      <p:sp>
        <p:nvSpPr>
          <p:cNvPr id="8" name="Shape 5"/>
          <p:cNvSpPr/>
          <p:nvPr/>
        </p:nvSpPr>
        <p:spPr>
          <a:xfrm>
            <a:off x="7210187" y="1891158"/>
            <a:ext cx="349925" cy="349925"/>
          </a:xfrm>
          <a:prstGeom prst="roundRect">
            <a:avLst>
              <a:gd name="adj" fmla="val 20002"/>
            </a:avLst>
          </a:prstGeom>
          <a:solidFill>
            <a:srgbClr val="110080"/>
          </a:solidFill>
          <a:ln w="7620">
            <a:solidFill>
              <a:srgbClr val="2A1999"/>
            </a:solidFill>
            <a:prstDash val="solid"/>
          </a:ln>
        </p:spPr>
        <p:txBody>
          <a:bodyPr/>
          <a:lstStyle/>
          <a:p>
            <a:endParaRPr lang="en-US"/>
          </a:p>
        </p:txBody>
      </p:sp>
      <p:sp>
        <p:nvSpPr>
          <p:cNvPr id="9" name="Text 6"/>
          <p:cNvSpPr/>
          <p:nvPr/>
        </p:nvSpPr>
        <p:spPr>
          <a:xfrm>
            <a:off x="7337167" y="1915178"/>
            <a:ext cx="107156" cy="233363"/>
          </a:xfrm>
          <a:prstGeom prst="rect">
            <a:avLst/>
          </a:prstGeom>
          <a:noFill/>
          <a:ln/>
        </p:spPr>
        <p:txBody>
          <a:bodyPr wrap="none" rtlCol="0" anchor="t"/>
          <a:lstStyle/>
          <a:p>
            <a:pPr marL="0" indent="0" algn="ctr">
              <a:lnSpc>
                <a:spcPts val="1837"/>
              </a:lnSpc>
              <a:buNone/>
            </a:pPr>
            <a:r>
              <a:rPr lang="en-US" sz="1837" b="1" kern="0" spc="-55" dirty="0">
                <a:solidFill>
                  <a:srgbClr val="E5E0DF"/>
                </a:solidFill>
                <a:latin typeface="Inter" pitchFamily="34" charset="0"/>
                <a:ea typeface="Inter" pitchFamily="34" charset="-122"/>
                <a:cs typeface="Inter" pitchFamily="34" charset="-120"/>
              </a:rPr>
              <a:t>1</a:t>
            </a:r>
            <a:endParaRPr lang="en-US" sz="1837" dirty="0"/>
          </a:p>
        </p:txBody>
      </p:sp>
      <p:sp>
        <p:nvSpPr>
          <p:cNvPr id="10" name="Text 7"/>
          <p:cNvSpPr/>
          <p:nvPr/>
        </p:nvSpPr>
        <p:spPr>
          <a:xfrm>
            <a:off x="4515564" y="1960449"/>
            <a:ext cx="2080320" cy="894253"/>
          </a:xfrm>
          <a:prstGeom prst="rect">
            <a:avLst/>
          </a:prstGeom>
          <a:noFill/>
          <a:ln/>
        </p:spPr>
        <p:txBody>
          <a:bodyPr wrap="none" rtlCol="0" anchor="t"/>
          <a:lstStyle/>
          <a:p>
            <a:pPr marL="0" indent="0" algn="r">
              <a:lnSpc>
                <a:spcPts val="1914"/>
              </a:lnSpc>
              <a:buNone/>
            </a:pPr>
            <a:r>
              <a:rPr lang="en-US" sz="3200" b="1" kern="0" spc="-46" dirty="0">
                <a:solidFill>
                  <a:srgbClr val="E5E0DF"/>
                </a:solidFill>
                <a:latin typeface="Inter" pitchFamily="34" charset="0"/>
                <a:ea typeface="Inter" pitchFamily="34" charset="-122"/>
                <a:cs typeface="Inter" pitchFamily="34" charset="-120"/>
              </a:rPr>
              <a:t>cin.fail()</a:t>
            </a:r>
            <a:endParaRPr lang="en-US" sz="3200" dirty="0"/>
          </a:p>
        </p:txBody>
      </p:sp>
      <p:sp>
        <p:nvSpPr>
          <p:cNvPr id="11" name="Text 8"/>
          <p:cNvSpPr/>
          <p:nvPr/>
        </p:nvSpPr>
        <p:spPr>
          <a:xfrm>
            <a:off x="356260" y="2241084"/>
            <a:ext cx="6483927" cy="1819486"/>
          </a:xfrm>
          <a:prstGeom prst="rect">
            <a:avLst/>
          </a:prstGeom>
          <a:noFill/>
          <a:ln/>
        </p:spPr>
        <p:txBody>
          <a:bodyPr wrap="square" rtlCol="0" anchor="t"/>
          <a:lstStyle/>
          <a:p>
            <a:pPr marL="0" indent="0" algn="r">
              <a:lnSpc>
                <a:spcPts val="1837"/>
              </a:lnSpc>
              <a:buNone/>
            </a:pPr>
            <a:r>
              <a:rPr lang="en-US" sz="2400" kern="0" spc="-24" dirty="0">
                <a:solidFill>
                  <a:srgbClr val="E5E0DF"/>
                </a:solidFill>
                <a:latin typeface="Inter" pitchFamily="34" charset="0"/>
                <a:ea typeface="Inter" pitchFamily="34" charset="-122"/>
                <a:cs typeface="Inter" pitchFamily="34" charset="-120"/>
              </a:rPr>
              <a:t>This function checks if the previous input operation failed due to an invalid input type. It's useful for detecting when the user enters non-numeric data when you're expecting a number</a:t>
            </a:r>
            <a:r>
              <a:rPr lang="en-US" sz="1225" kern="0" spc="-24" dirty="0">
                <a:solidFill>
                  <a:srgbClr val="E5E0DF"/>
                </a:solidFill>
                <a:latin typeface="Inter" pitchFamily="34" charset="0"/>
                <a:ea typeface="Inter" pitchFamily="34" charset="-122"/>
                <a:cs typeface="Inter" pitchFamily="34" charset="-120"/>
              </a:rPr>
              <a:t>.</a:t>
            </a:r>
            <a:endParaRPr lang="en-US" sz="1225" dirty="0"/>
          </a:p>
        </p:txBody>
      </p:sp>
      <p:sp>
        <p:nvSpPr>
          <p:cNvPr id="12" name="Shape 9"/>
          <p:cNvSpPr/>
          <p:nvPr/>
        </p:nvSpPr>
        <p:spPr>
          <a:xfrm>
            <a:off x="7722590" y="3109764"/>
            <a:ext cx="544354" cy="31075"/>
          </a:xfrm>
          <a:prstGeom prst="roundRect">
            <a:avLst>
              <a:gd name="adj" fmla="val 225238"/>
            </a:avLst>
          </a:prstGeom>
          <a:solidFill>
            <a:srgbClr val="2A1999"/>
          </a:solidFill>
          <a:ln/>
        </p:spPr>
        <p:txBody>
          <a:bodyPr/>
          <a:lstStyle/>
          <a:p>
            <a:endParaRPr lang="en-US"/>
          </a:p>
        </p:txBody>
      </p:sp>
      <p:sp>
        <p:nvSpPr>
          <p:cNvPr id="13" name="Shape 10"/>
          <p:cNvSpPr/>
          <p:nvPr/>
        </p:nvSpPr>
        <p:spPr>
          <a:xfrm>
            <a:off x="7237735" y="2918341"/>
            <a:ext cx="349925" cy="349925"/>
          </a:xfrm>
          <a:prstGeom prst="roundRect">
            <a:avLst>
              <a:gd name="adj" fmla="val 20002"/>
            </a:avLst>
          </a:prstGeom>
          <a:solidFill>
            <a:srgbClr val="110080"/>
          </a:solidFill>
          <a:ln w="7620">
            <a:solidFill>
              <a:srgbClr val="2A1999"/>
            </a:solidFill>
            <a:prstDash val="solid"/>
          </a:ln>
        </p:spPr>
        <p:txBody>
          <a:bodyPr/>
          <a:lstStyle/>
          <a:p>
            <a:endParaRPr lang="en-US"/>
          </a:p>
        </p:txBody>
      </p:sp>
      <p:sp>
        <p:nvSpPr>
          <p:cNvPr id="14" name="Text 11"/>
          <p:cNvSpPr/>
          <p:nvPr/>
        </p:nvSpPr>
        <p:spPr>
          <a:xfrm>
            <a:off x="7350145" y="2957012"/>
            <a:ext cx="140018" cy="233363"/>
          </a:xfrm>
          <a:prstGeom prst="rect">
            <a:avLst/>
          </a:prstGeom>
          <a:noFill/>
          <a:ln/>
        </p:spPr>
        <p:txBody>
          <a:bodyPr wrap="none" rtlCol="0" anchor="t"/>
          <a:lstStyle/>
          <a:p>
            <a:pPr marL="0" indent="0" algn="ctr">
              <a:lnSpc>
                <a:spcPts val="1837"/>
              </a:lnSpc>
              <a:buNone/>
            </a:pPr>
            <a:r>
              <a:rPr lang="en-US" sz="1837" b="1" kern="0" spc="-55" dirty="0">
                <a:solidFill>
                  <a:srgbClr val="E5E0DF"/>
                </a:solidFill>
                <a:latin typeface="Inter" pitchFamily="34" charset="0"/>
                <a:ea typeface="Inter" pitchFamily="34" charset="-122"/>
                <a:cs typeface="Inter" pitchFamily="34" charset="-120"/>
              </a:rPr>
              <a:t>2</a:t>
            </a:r>
            <a:endParaRPr lang="en-US" sz="1837" dirty="0"/>
          </a:p>
        </p:txBody>
      </p:sp>
      <p:sp>
        <p:nvSpPr>
          <p:cNvPr id="15" name="Text 12"/>
          <p:cNvSpPr/>
          <p:nvPr/>
        </p:nvSpPr>
        <p:spPr>
          <a:xfrm>
            <a:off x="8170663" y="2940133"/>
            <a:ext cx="2236671" cy="753093"/>
          </a:xfrm>
          <a:prstGeom prst="rect">
            <a:avLst/>
          </a:prstGeom>
          <a:noFill/>
          <a:ln/>
        </p:spPr>
        <p:txBody>
          <a:bodyPr wrap="none" rtlCol="0" anchor="t"/>
          <a:lstStyle/>
          <a:p>
            <a:pPr marL="0" indent="0" algn="l">
              <a:lnSpc>
                <a:spcPts val="1914"/>
              </a:lnSpc>
              <a:buNone/>
            </a:pPr>
            <a:r>
              <a:rPr lang="en-US" sz="3200" b="1" kern="0" spc="-46" dirty="0">
                <a:solidFill>
                  <a:srgbClr val="E5E0DF"/>
                </a:solidFill>
                <a:latin typeface="Inter" pitchFamily="34" charset="0"/>
                <a:ea typeface="Inter" pitchFamily="34" charset="-122"/>
                <a:cs typeface="Inter" pitchFamily="34" charset="-120"/>
              </a:rPr>
              <a:t>cin.peek()</a:t>
            </a:r>
            <a:endParaRPr lang="en-US" sz="3200" dirty="0"/>
          </a:p>
        </p:txBody>
      </p:sp>
      <p:sp>
        <p:nvSpPr>
          <p:cNvPr id="16" name="Text 13"/>
          <p:cNvSpPr/>
          <p:nvPr/>
        </p:nvSpPr>
        <p:spPr>
          <a:xfrm>
            <a:off x="8155824" y="3478087"/>
            <a:ext cx="6383136" cy="1720715"/>
          </a:xfrm>
          <a:prstGeom prst="rect">
            <a:avLst/>
          </a:prstGeom>
          <a:noFill/>
          <a:ln/>
        </p:spPr>
        <p:txBody>
          <a:bodyPr wrap="square" rtlCol="0" anchor="t"/>
          <a:lstStyle/>
          <a:p>
            <a:pPr marL="0" indent="0" algn="l">
              <a:lnSpc>
                <a:spcPts val="1837"/>
              </a:lnSpc>
              <a:buNone/>
            </a:pPr>
            <a:r>
              <a:rPr lang="en-US" sz="2400" kern="0" spc="-24" dirty="0">
                <a:solidFill>
                  <a:srgbClr val="E5E0DF"/>
                </a:solidFill>
                <a:latin typeface="Inter" pitchFamily="34" charset="0"/>
                <a:ea typeface="Inter" pitchFamily="34" charset="-122"/>
                <a:cs typeface="Inter" pitchFamily="34" charset="-120"/>
              </a:rPr>
              <a:t>This function looks at the next character in the input stream without extracting it. You can use it to check if the next character is the one you expect, like a newline or a specific delimiter</a:t>
            </a:r>
            <a:r>
              <a:rPr lang="en-US" sz="1225" kern="0" spc="-24" dirty="0">
                <a:solidFill>
                  <a:srgbClr val="E5E0DF"/>
                </a:solidFill>
                <a:latin typeface="Inter" pitchFamily="34" charset="0"/>
                <a:ea typeface="Inter" pitchFamily="34" charset="-122"/>
                <a:cs typeface="Inter" pitchFamily="34" charset="-120"/>
              </a:rPr>
              <a:t>.</a:t>
            </a:r>
            <a:endParaRPr lang="en-US" sz="1225" dirty="0"/>
          </a:p>
        </p:txBody>
      </p:sp>
      <p:sp>
        <p:nvSpPr>
          <p:cNvPr id="17" name="Shape 14"/>
          <p:cNvSpPr/>
          <p:nvPr/>
        </p:nvSpPr>
        <p:spPr>
          <a:xfrm>
            <a:off x="6595884" y="5880318"/>
            <a:ext cx="544354" cy="31075"/>
          </a:xfrm>
          <a:prstGeom prst="roundRect">
            <a:avLst>
              <a:gd name="adj" fmla="val 225238"/>
            </a:avLst>
          </a:prstGeom>
          <a:solidFill>
            <a:srgbClr val="2A1999"/>
          </a:solidFill>
          <a:ln/>
        </p:spPr>
        <p:txBody>
          <a:bodyPr/>
          <a:lstStyle/>
          <a:p>
            <a:endParaRPr lang="en-US"/>
          </a:p>
        </p:txBody>
      </p:sp>
      <p:sp>
        <p:nvSpPr>
          <p:cNvPr id="18" name="Shape 15"/>
          <p:cNvSpPr/>
          <p:nvPr/>
        </p:nvSpPr>
        <p:spPr>
          <a:xfrm>
            <a:off x="7140238" y="5720953"/>
            <a:ext cx="349925" cy="349925"/>
          </a:xfrm>
          <a:prstGeom prst="roundRect">
            <a:avLst>
              <a:gd name="adj" fmla="val 20002"/>
            </a:avLst>
          </a:prstGeom>
          <a:solidFill>
            <a:srgbClr val="110080"/>
          </a:solidFill>
          <a:ln w="7620">
            <a:solidFill>
              <a:srgbClr val="2A1999"/>
            </a:solidFill>
            <a:prstDash val="solid"/>
          </a:ln>
        </p:spPr>
        <p:txBody>
          <a:bodyPr/>
          <a:lstStyle/>
          <a:p>
            <a:endParaRPr lang="en-US"/>
          </a:p>
        </p:txBody>
      </p:sp>
      <p:sp>
        <p:nvSpPr>
          <p:cNvPr id="19" name="Text 16"/>
          <p:cNvSpPr/>
          <p:nvPr/>
        </p:nvSpPr>
        <p:spPr>
          <a:xfrm>
            <a:off x="7241679" y="5779175"/>
            <a:ext cx="146923" cy="233363"/>
          </a:xfrm>
          <a:prstGeom prst="rect">
            <a:avLst/>
          </a:prstGeom>
          <a:noFill/>
          <a:ln/>
        </p:spPr>
        <p:txBody>
          <a:bodyPr wrap="none" rtlCol="0" anchor="t"/>
          <a:lstStyle/>
          <a:p>
            <a:pPr marL="0" indent="0" algn="ctr">
              <a:lnSpc>
                <a:spcPts val="1837"/>
              </a:lnSpc>
              <a:buNone/>
            </a:pPr>
            <a:r>
              <a:rPr lang="en-US" sz="1837" b="1" kern="0" spc="-55" dirty="0">
                <a:solidFill>
                  <a:srgbClr val="E5E0DF"/>
                </a:solidFill>
                <a:latin typeface="Inter" pitchFamily="34" charset="0"/>
                <a:ea typeface="Inter" pitchFamily="34" charset="-122"/>
                <a:cs typeface="Inter" pitchFamily="34" charset="-120"/>
              </a:rPr>
              <a:t>3</a:t>
            </a:r>
            <a:endParaRPr lang="en-US" sz="1837" dirty="0"/>
          </a:p>
        </p:txBody>
      </p:sp>
      <p:sp>
        <p:nvSpPr>
          <p:cNvPr id="20" name="Text 17"/>
          <p:cNvSpPr/>
          <p:nvPr/>
        </p:nvSpPr>
        <p:spPr>
          <a:xfrm>
            <a:off x="4379416" y="4778338"/>
            <a:ext cx="2080320" cy="1166216"/>
          </a:xfrm>
          <a:prstGeom prst="rect">
            <a:avLst/>
          </a:prstGeom>
          <a:noFill/>
          <a:ln/>
        </p:spPr>
        <p:txBody>
          <a:bodyPr wrap="none" rtlCol="0" anchor="t"/>
          <a:lstStyle/>
          <a:p>
            <a:pPr marL="0" indent="0" algn="r">
              <a:lnSpc>
                <a:spcPts val="1914"/>
              </a:lnSpc>
              <a:buNone/>
            </a:pPr>
            <a:r>
              <a:rPr lang="en-US" sz="3200" b="1" kern="0" spc="-46" dirty="0">
                <a:solidFill>
                  <a:srgbClr val="E5E0DF"/>
                </a:solidFill>
                <a:latin typeface="Inter" pitchFamily="34" charset="0"/>
                <a:ea typeface="Inter" pitchFamily="34" charset="-122"/>
                <a:cs typeface="Inter" pitchFamily="34" charset="-120"/>
              </a:rPr>
              <a:t>cin.clear()</a:t>
            </a:r>
            <a:endParaRPr lang="en-US" sz="3200" dirty="0"/>
          </a:p>
        </p:txBody>
      </p:sp>
      <p:sp>
        <p:nvSpPr>
          <p:cNvPr id="21" name="Text 18"/>
          <p:cNvSpPr/>
          <p:nvPr/>
        </p:nvSpPr>
        <p:spPr>
          <a:xfrm>
            <a:off x="261257" y="5297210"/>
            <a:ext cx="6198479" cy="1906785"/>
          </a:xfrm>
          <a:prstGeom prst="rect">
            <a:avLst/>
          </a:prstGeom>
          <a:noFill/>
          <a:ln/>
        </p:spPr>
        <p:txBody>
          <a:bodyPr wrap="square" rtlCol="0" anchor="t"/>
          <a:lstStyle/>
          <a:p>
            <a:pPr marL="0" indent="0" algn="r">
              <a:lnSpc>
                <a:spcPts val="1837"/>
              </a:lnSpc>
              <a:buNone/>
            </a:pPr>
            <a:r>
              <a:rPr lang="en-US" sz="2400" kern="0" spc="-24" dirty="0">
                <a:solidFill>
                  <a:srgbClr val="E5E0DF"/>
                </a:solidFill>
                <a:latin typeface="Inter" pitchFamily="34" charset="0"/>
                <a:ea typeface="Inter" pitchFamily="34" charset="-122"/>
                <a:cs typeface="Inter" pitchFamily="34" charset="-120"/>
              </a:rPr>
              <a:t>If an input operation fails, this function clears the error flags on the cin object so you can try the input again. It's important to clear the error state before attempting another input.</a:t>
            </a:r>
            <a:endParaRPr lang="en-US" sz="2400" dirty="0"/>
          </a:p>
        </p:txBody>
      </p:sp>
      <p:sp>
        <p:nvSpPr>
          <p:cNvPr id="22" name="Shape 19"/>
          <p:cNvSpPr/>
          <p:nvPr/>
        </p:nvSpPr>
        <p:spPr>
          <a:xfrm>
            <a:off x="7490162" y="6981408"/>
            <a:ext cx="544354" cy="31075"/>
          </a:xfrm>
          <a:prstGeom prst="roundRect">
            <a:avLst>
              <a:gd name="adj" fmla="val 225238"/>
            </a:avLst>
          </a:prstGeom>
          <a:solidFill>
            <a:srgbClr val="2A1999"/>
          </a:solidFill>
          <a:ln/>
        </p:spPr>
        <p:txBody>
          <a:bodyPr/>
          <a:lstStyle/>
          <a:p>
            <a:endParaRPr lang="en-US"/>
          </a:p>
        </p:txBody>
      </p:sp>
      <p:sp>
        <p:nvSpPr>
          <p:cNvPr id="23" name="Shape 20"/>
          <p:cNvSpPr/>
          <p:nvPr/>
        </p:nvSpPr>
        <p:spPr>
          <a:xfrm>
            <a:off x="7140238" y="6822043"/>
            <a:ext cx="349925" cy="349925"/>
          </a:xfrm>
          <a:prstGeom prst="roundRect">
            <a:avLst>
              <a:gd name="adj" fmla="val 20002"/>
            </a:avLst>
          </a:prstGeom>
          <a:solidFill>
            <a:srgbClr val="110080"/>
          </a:solidFill>
          <a:ln w="7620">
            <a:solidFill>
              <a:srgbClr val="2A1999"/>
            </a:solidFill>
            <a:prstDash val="solid"/>
          </a:ln>
        </p:spPr>
        <p:txBody>
          <a:bodyPr/>
          <a:lstStyle/>
          <a:p>
            <a:endParaRPr lang="en-US"/>
          </a:p>
        </p:txBody>
      </p:sp>
      <p:sp>
        <p:nvSpPr>
          <p:cNvPr id="24" name="Text 21"/>
          <p:cNvSpPr/>
          <p:nvPr/>
        </p:nvSpPr>
        <p:spPr>
          <a:xfrm>
            <a:off x="7239536" y="6880265"/>
            <a:ext cx="151209" cy="233363"/>
          </a:xfrm>
          <a:prstGeom prst="rect">
            <a:avLst/>
          </a:prstGeom>
          <a:noFill/>
          <a:ln/>
        </p:spPr>
        <p:txBody>
          <a:bodyPr wrap="none" rtlCol="0" anchor="t"/>
          <a:lstStyle/>
          <a:p>
            <a:pPr marL="0" indent="0" algn="ctr">
              <a:lnSpc>
                <a:spcPts val="1837"/>
              </a:lnSpc>
              <a:buNone/>
            </a:pPr>
            <a:r>
              <a:rPr lang="en-US" sz="1837" b="1" kern="0" spc="-55" dirty="0">
                <a:solidFill>
                  <a:srgbClr val="E5E0DF"/>
                </a:solidFill>
                <a:latin typeface="Inter" pitchFamily="34" charset="0"/>
                <a:ea typeface="Inter" pitchFamily="34" charset="-122"/>
                <a:cs typeface="Inter" pitchFamily="34" charset="-120"/>
              </a:rPr>
              <a:t>4</a:t>
            </a:r>
            <a:endParaRPr lang="en-US" sz="1837" dirty="0"/>
          </a:p>
        </p:txBody>
      </p:sp>
      <p:sp>
        <p:nvSpPr>
          <p:cNvPr id="25" name="Text 22"/>
          <p:cNvSpPr/>
          <p:nvPr/>
        </p:nvSpPr>
        <p:spPr>
          <a:xfrm>
            <a:off x="8170664" y="6070878"/>
            <a:ext cx="1944172" cy="974765"/>
          </a:xfrm>
          <a:prstGeom prst="rect">
            <a:avLst/>
          </a:prstGeom>
          <a:noFill/>
          <a:ln/>
        </p:spPr>
        <p:txBody>
          <a:bodyPr wrap="none" rtlCol="0" anchor="t"/>
          <a:lstStyle/>
          <a:p>
            <a:pPr marL="0" indent="0" algn="l">
              <a:lnSpc>
                <a:spcPts val="1914"/>
              </a:lnSpc>
              <a:buNone/>
            </a:pPr>
            <a:r>
              <a:rPr lang="en-US" sz="3200" b="1" kern="0" spc="-46" dirty="0">
                <a:solidFill>
                  <a:srgbClr val="E5E0DF"/>
                </a:solidFill>
                <a:latin typeface="Inter" pitchFamily="34" charset="0"/>
                <a:ea typeface="Inter" pitchFamily="34" charset="-122"/>
                <a:cs typeface="Inter" pitchFamily="34" charset="-120"/>
              </a:rPr>
              <a:t>cin.ignore()</a:t>
            </a:r>
            <a:endParaRPr lang="en-US" sz="3200" dirty="0"/>
          </a:p>
        </p:txBody>
      </p:sp>
      <p:sp>
        <p:nvSpPr>
          <p:cNvPr id="26" name="Text 23"/>
          <p:cNvSpPr/>
          <p:nvPr/>
        </p:nvSpPr>
        <p:spPr>
          <a:xfrm>
            <a:off x="8034516" y="6584370"/>
            <a:ext cx="6504444" cy="1720715"/>
          </a:xfrm>
          <a:prstGeom prst="rect">
            <a:avLst/>
          </a:prstGeom>
          <a:noFill/>
          <a:ln/>
        </p:spPr>
        <p:txBody>
          <a:bodyPr wrap="square" rtlCol="0" anchor="t"/>
          <a:lstStyle/>
          <a:p>
            <a:pPr marL="0" indent="0" algn="l">
              <a:lnSpc>
                <a:spcPts val="1837"/>
              </a:lnSpc>
              <a:buNone/>
            </a:pPr>
            <a:r>
              <a:rPr lang="en-US" sz="2400" kern="0" spc="-24" dirty="0">
                <a:solidFill>
                  <a:srgbClr val="E5E0DF"/>
                </a:solidFill>
                <a:latin typeface="Inter" pitchFamily="34" charset="0"/>
                <a:ea typeface="Inter" pitchFamily="34" charset="-122"/>
                <a:cs typeface="Inter" pitchFamily="34" charset="-120"/>
              </a:rPr>
              <a:t>This function discards characters from the input stream, which is useful for skipping over invalid input and preparing the stream for the next attempt.</a:t>
            </a:r>
            <a:endParaRPr lang="en-US" sz="2400" dirty="0"/>
          </a:p>
        </p:txBody>
      </p:sp>
      <p:pic>
        <p:nvPicPr>
          <p:cNvPr id="27" name="Image 1"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
        <p:nvSpPr>
          <p:cNvPr id="4" name="Rectangle 3">
            <a:extLst>
              <a:ext uri="{FF2B5EF4-FFF2-40B4-BE49-F238E27FC236}">
                <a16:creationId xmlns:a16="http://schemas.microsoft.com/office/drawing/2014/main" id="{5AF7BADD-9A13-168B-42FC-F71A32CF9E92}"/>
              </a:ext>
            </a:extLst>
          </p:cNvPr>
          <p:cNvSpPr/>
          <p:nvPr/>
        </p:nvSpPr>
        <p:spPr>
          <a:xfrm>
            <a:off x="11391999" y="7238948"/>
            <a:ext cx="3146961" cy="899212"/>
          </a:xfrm>
          <a:prstGeom prst="rect">
            <a:avLst/>
          </a:prstGeom>
          <a:solidFill>
            <a:srgbClr val="272525"/>
          </a:solidFill>
          <a:ln>
            <a:solidFill>
              <a:srgbClr val="2725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14050"/>
            <a:ext cx="14630400" cy="8854440"/>
          </a:xfrm>
          <a:prstGeom prst="rect">
            <a:avLst/>
          </a:prstGeom>
          <a:solidFill>
            <a:srgbClr val="272525"/>
          </a:solidFill>
          <a:ln/>
        </p:spPr>
        <p:txBody>
          <a:bodyPr/>
          <a:lstStyle/>
          <a:p>
            <a:endParaRPr lang="en-US"/>
          </a:p>
        </p:txBody>
      </p:sp>
      <p:sp>
        <p:nvSpPr>
          <p:cNvPr id="5" name="Text 2"/>
          <p:cNvSpPr/>
          <p:nvPr/>
        </p:nvSpPr>
        <p:spPr>
          <a:xfrm>
            <a:off x="2422566" y="440650"/>
            <a:ext cx="9357755" cy="932975"/>
          </a:xfrm>
          <a:prstGeom prst="rect">
            <a:avLst/>
          </a:prstGeom>
          <a:noFill/>
          <a:ln/>
        </p:spPr>
        <p:txBody>
          <a:bodyPr wrap="none" rtlCol="0" anchor="t"/>
          <a:lstStyle/>
          <a:p>
            <a:pPr marL="0" indent="0">
              <a:lnSpc>
                <a:spcPts val="3827"/>
              </a:lnSpc>
              <a:buNone/>
            </a:pPr>
            <a:r>
              <a:rPr lang="en-US" sz="4400" b="1" kern="0" spc="-92" dirty="0">
                <a:solidFill>
                  <a:srgbClr val="FFFFFF"/>
                </a:solidFill>
                <a:latin typeface="Inter" pitchFamily="34" charset="0"/>
                <a:ea typeface="Inter" pitchFamily="34" charset="-122"/>
                <a:cs typeface="Inter" pitchFamily="34" charset="-120"/>
              </a:rPr>
              <a:t>File Handling and Data Management</a:t>
            </a:r>
            <a:endParaRPr lang="en-US" sz="4400" dirty="0"/>
          </a:p>
        </p:txBody>
      </p:sp>
      <p:sp>
        <p:nvSpPr>
          <p:cNvPr id="6" name="Text 3"/>
          <p:cNvSpPr/>
          <p:nvPr/>
        </p:nvSpPr>
        <p:spPr>
          <a:xfrm>
            <a:off x="344385" y="1650670"/>
            <a:ext cx="2909454" cy="641268"/>
          </a:xfrm>
          <a:prstGeom prst="rect">
            <a:avLst/>
          </a:prstGeom>
          <a:noFill/>
          <a:ln/>
        </p:spPr>
        <p:txBody>
          <a:bodyPr wrap="none" rtlCol="0" anchor="t"/>
          <a:lstStyle/>
          <a:p>
            <a:pPr marL="0" indent="0">
              <a:lnSpc>
                <a:spcPts val="3062"/>
              </a:lnSpc>
              <a:buNone/>
            </a:pPr>
            <a:r>
              <a:rPr lang="en-US" sz="3200" b="1" kern="0" spc="-73" dirty="0">
                <a:solidFill>
                  <a:srgbClr val="FFFFFF"/>
                </a:solidFill>
                <a:latin typeface="Inter" pitchFamily="34" charset="0"/>
                <a:ea typeface="Inter" pitchFamily="34" charset="-122"/>
                <a:cs typeface="Inter" pitchFamily="34" charset="-120"/>
              </a:rPr>
              <a:t>File Handling</a:t>
            </a:r>
            <a:endParaRPr lang="en-US" sz="3200" dirty="0"/>
          </a:p>
        </p:txBody>
      </p:sp>
      <p:sp>
        <p:nvSpPr>
          <p:cNvPr id="7" name="Text 4"/>
          <p:cNvSpPr/>
          <p:nvPr/>
        </p:nvSpPr>
        <p:spPr>
          <a:xfrm>
            <a:off x="344385" y="2385163"/>
            <a:ext cx="2600696" cy="4539155"/>
          </a:xfrm>
          <a:prstGeom prst="rect">
            <a:avLst/>
          </a:prstGeom>
          <a:noFill/>
          <a:ln/>
        </p:spPr>
        <p:txBody>
          <a:bodyPr wrap="square" rtlCol="0" anchor="t"/>
          <a:lstStyle/>
          <a:p>
            <a:pPr marL="0" indent="0">
              <a:lnSpc>
                <a:spcPts val="1837"/>
              </a:lnSpc>
              <a:buNone/>
            </a:pPr>
            <a:r>
              <a:rPr lang="en-US" sz="2400" kern="0" spc="-24" dirty="0">
                <a:solidFill>
                  <a:srgbClr val="E5E0DF"/>
                </a:solidFill>
                <a:latin typeface="Inter" pitchFamily="34" charset="0"/>
                <a:ea typeface="Inter" pitchFamily="34" charset="-122"/>
                <a:cs typeface="Inter" pitchFamily="34" charset="-120"/>
              </a:rPr>
              <a:t>Our app utilizes file-based storage to maintain station data, ticket information, and user preferences. We leverage C++ file I/O functions to read, write, and manage these files efficiently.</a:t>
            </a:r>
            <a:endParaRPr lang="en-US" sz="2400" dirty="0"/>
          </a:p>
        </p:txBody>
      </p:sp>
      <p:sp>
        <p:nvSpPr>
          <p:cNvPr id="8" name="Text 5"/>
          <p:cNvSpPr/>
          <p:nvPr/>
        </p:nvSpPr>
        <p:spPr>
          <a:xfrm>
            <a:off x="3598224" y="1650670"/>
            <a:ext cx="5082637" cy="2762500"/>
          </a:xfrm>
          <a:prstGeom prst="rect">
            <a:avLst/>
          </a:prstGeom>
          <a:noFill/>
          <a:ln/>
        </p:spPr>
        <p:txBody>
          <a:bodyPr wrap="square" rtlCol="0" anchor="t"/>
          <a:lstStyle/>
          <a:p>
            <a:pPr marL="0" indent="0">
              <a:lnSpc>
                <a:spcPts val="3062"/>
              </a:lnSpc>
              <a:buNone/>
            </a:pPr>
            <a:r>
              <a:rPr lang="en-US" sz="3200" b="1" kern="0" spc="-73" dirty="0">
                <a:solidFill>
                  <a:srgbClr val="FFFFFF"/>
                </a:solidFill>
                <a:latin typeface="Inter" pitchFamily="34" charset="0"/>
                <a:ea typeface="Inter" pitchFamily="34" charset="-122"/>
                <a:cs typeface="Inter" pitchFamily="34" charset="-120"/>
              </a:rPr>
              <a:t>Auto-Incrementing Ticket IDs</a:t>
            </a:r>
            <a:endParaRPr lang="en-US" sz="3200" dirty="0"/>
          </a:p>
        </p:txBody>
      </p:sp>
      <p:sp>
        <p:nvSpPr>
          <p:cNvPr id="9" name="Text 6"/>
          <p:cNvSpPr/>
          <p:nvPr/>
        </p:nvSpPr>
        <p:spPr>
          <a:xfrm>
            <a:off x="3465127" y="2485431"/>
            <a:ext cx="4961880" cy="3949183"/>
          </a:xfrm>
          <a:prstGeom prst="rect">
            <a:avLst/>
          </a:prstGeom>
          <a:noFill/>
          <a:ln/>
        </p:spPr>
        <p:txBody>
          <a:bodyPr wrap="square" rtlCol="0" anchor="t"/>
          <a:lstStyle/>
          <a:p>
            <a:pPr marL="0" indent="0">
              <a:lnSpc>
                <a:spcPts val="1837"/>
              </a:lnSpc>
              <a:buNone/>
            </a:pPr>
            <a:r>
              <a:rPr lang="en-US" sz="2400" kern="0" spc="-24" dirty="0">
                <a:solidFill>
                  <a:srgbClr val="E5E0DF"/>
                </a:solidFill>
                <a:latin typeface="Inter" pitchFamily="34" charset="0"/>
                <a:ea typeface="Inter" pitchFamily="34" charset="-122"/>
                <a:cs typeface="Inter" pitchFamily="34" charset="-120"/>
              </a:rPr>
              <a:t>Each ticket generated by the app has a unique serial number. We use file-based storage to keep track of the last used ticket ID, automatically incrementing the number for each new ticket to ensure consistency.</a:t>
            </a:r>
            <a:endParaRPr lang="en-US" sz="2400" dirty="0"/>
          </a:p>
        </p:txBody>
      </p:sp>
      <p:sp>
        <p:nvSpPr>
          <p:cNvPr id="10" name="Text 7"/>
          <p:cNvSpPr/>
          <p:nvPr/>
        </p:nvSpPr>
        <p:spPr>
          <a:xfrm>
            <a:off x="8947053" y="1686044"/>
            <a:ext cx="3177653" cy="2338267"/>
          </a:xfrm>
          <a:prstGeom prst="rect">
            <a:avLst/>
          </a:prstGeom>
          <a:noFill/>
          <a:ln/>
        </p:spPr>
        <p:txBody>
          <a:bodyPr wrap="square" rtlCol="0" anchor="t"/>
          <a:lstStyle/>
          <a:p>
            <a:pPr marL="0" indent="0">
              <a:lnSpc>
                <a:spcPts val="3062"/>
              </a:lnSpc>
              <a:buNone/>
            </a:pPr>
            <a:r>
              <a:rPr lang="en-US" sz="3200" b="1" kern="0" spc="-73" dirty="0">
                <a:solidFill>
                  <a:srgbClr val="FFFFFF"/>
                </a:solidFill>
                <a:latin typeface="Inter" pitchFamily="34" charset="0"/>
                <a:ea typeface="Inter" pitchFamily="34" charset="-122"/>
                <a:cs typeface="Inter" pitchFamily="34" charset="-120"/>
              </a:rPr>
              <a:t>Station Data Management</a:t>
            </a:r>
            <a:endParaRPr lang="en-US" sz="3200" dirty="0"/>
          </a:p>
        </p:txBody>
      </p:sp>
      <p:sp>
        <p:nvSpPr>
          <p:cNvPr id="11" name="Text 8"/>
          <p:cNvSpPr/>
          <p:nvPr/>
        </p:nvSpPr>
        <p:spPr>
          <a:xfrm>
            <a:off x="9025245" y="2814452"/>
            <a:ext cx="4144489" cy="2998060"/>
          </a:xfrm>
          <a:prstGeom prst="rect">
            <a:avLst/>
          </a:prstGeom>
          <a:noFill/>
          <a:ln/>
        </p:spPr>
        <p:txBody>
          <a:bodyPr wrap="square" rtlCol="0" anchor="t"/>
          <a:lstStyle/>
          <a:p>
            <a:pPr marL="0" indent="0">
              <a:lnSpc>
                <a:spcPts val="1837"/>
              </a:lnSpc>
              <a:buNone/>
            </a:pPr>
            <a:r>
              <a:rPr lang="en-US" sz="2400" kern="0" spc="-24" dirty="0">
                <a:solidFill>
                  <a:srgbClr val="E5E0DF"/>
                </a:solidFill>
                <a:latin typeface="Inter" pitchFamily="34" charset="0"/>
                <a:ea typeface="Inter" pitchFamily="34" charset="-122"/>
                <a:cs typeface="Inter" pitchFamily="34" charset="-120"/>
              </a:rPr>
              <a:t>Station names, IDs, and other details are stored in a data file. We read this file on startup to populate the station information, allowing users to search, view, and select stations seamlessly</a:t>
            </a:r>
            <a:r>
              <a:rPr lang="en-US" sz="1225" kern="0" spc="-24" dirty="0">
                <a:solidFill>
                  <a:srgbClr val="E5E0DF"/>
                </a:solidFill>
                <a:latin typeface="Inter" pitchFamily="34" charset="0"/>
                <a:ea typeface="Inter" pitchFamily="34" charset="-122"/>
                <a:cs typeface="Inter" pitchFamily="34" charset="-120"/>
              </a:rPr>
              <a:t>.</a:t>
            </a:r>
            <a:endParaRPr lang="en-US" sz="1225" dirty="0"/>
          </a:p>
        </p:txBody>
      </p:sp>
      <p:sp>
        <p:nvSpPr>
          <p:cNvPr id="12" name="Shape 9"/>
          <p:cNvSpPr/>
          <p:nvPr/>
        </p:nvSpPr>
        <p:spPr>
          <a:xfrm>
            <a:off x="2073817" y="6229005"/>
            <a:ext cx="349925" cy="349925"/>
          </a:xfrm>
          <a:prstGeom prst="roundRect">
            <a:avLst>
              <a:gd name="adj" fmla="val 20002"/>
            </a:avLst>
          </a:prstGeom>
          <a:solidFill>
            <a:srgbClr val="110080"/>
          </a:solidFill>
          <a:ln w="7620">
            <a:solidFill>
              <a:srgbClr val="2A1999"/>
            </a:solidFill>
            <a:prstDash val="solid"/>
          </a:ln>
        </p:spPr>
        <p:txBody>
          <a:bodyPr/>
          <a:lstStyle/>
          <a:p>
            <a:endParaRPr lang="en-US"/>
          </a:p>
        </p:txBody>
      </p:sp>
      <p:sp>
        <p:nvSpPr>
          <p:cNvPr id="13" name="Text 10"/>
          <p:cNvSpPr/>
          <p:nvPr/>
        </p:nvSpPr>
        <p:spPr>
          <a:xfrm>
            <a:off x="3742492" y="6982539"/>
            <a:ext cx="107156" cy="233363"/>
          </a:xfrm>
          <a:prstGeom prst="rect">
            <a:avLst/>
          </a:prstGeom>
          <a:noFill/>
          <a:ln/>
        </p:spPr>
        <p:txBody>
          <a:bodyPr wrap="none" rtlCol="0" anchor="t"/>
          <a:lstStyle/>
          <a:p>
            <a:pPr marL="0" indent="0" algn="ctr">
              <a:lnSpc>
                <a:spcPts val="1837"/>
              </a:lnSpc>
              <a:buNone/>
            </a:pPr>
            <a:endParaRPr lang="en-US" sz="1837" dirty="0"/>
          </a:p>
        </p:txBody>
      </p:sp>
      <p:sp>
        <p:nvSpPr>
          <p:cNvPr id="14" name="Text 11"/>
          <p:cNvSpPr/>
          <p:nvPr/>
        </p:nvSpPr>
        <p:spPr>
          <a:xfrm>
            <a:off x="2467680" y="6229006"/>
            <a:ext cx="3603079" cy="938320"/>
          </a:xfrm>
          <a:prstGeom prst="rect">
            <a:avLst/>
          </a:prstGeom>
          <a:noFill/>
          <a:ln/>
        </p:spPr>
        <p:txBody>
          <a:bodyPr wrap="none" rtlCol="0" anchor="t"/>
          <a:lstStyle/>
          <a:p>
            <a:pPr marL="0" indent="0">
              <a:lnSpc>
                <a:spcPts val="1914"/>
              </a:lnSpc>
              <a:buNone/>
            </a:pPr>
            <a:r>
              <a:rPr lang="en-US" sz="3200" b="1" kern="0" spc="-46" dirty="0">
                <a:solidFill>
                  <a:srgbClr val="E5E0DF"/>
                </a:solidFill>
                <a:latin typeface="Inter" pitchFamily="34" charset="0"/>
                <a:ea typeface="Inter" pitchFamily="34" charset="-122"/>
                <a:cs typeface="Inter" pitchFamily="34" charset="-120"/>
              </a:rPr>
              <a:t>Favorite Stations</a:t>
            </a:r>
            <a:endParaRPr lang="en-US" sz="3200" dirty="0"/>
          </a:p>
        </p:txBody>
      </p:sp>
      <p:sp>
        <p:nvSpPr>
          <p:cNvPr id="15" name="Text 12"/>
          <p:cNvSpPr/>
          <p:nvPr/>
        </p:nvSpPr>
        <p:spPr>
          <a:xfrm>
            <a:off x="2275573" y="6840187"/>
            <a:ext cx="6151434" cy="1353337"/>
          </a:xfrm>
          <a:prstGeom prst="rect">
            <a:avLst/>
          </a:prstGeom>
          <a:noFill/>
          <a:ln/>
        </p:spPr>
        <p:txBody>
          <a:bodyPr wrap="square" rtlCol="0" anchor="t"/>
          <a:lstStyle/>
          <a:p>
            <a:pPr marL="0" indent="0">
              <a:lnSpc>
                <a:spcPts val="1837"/>
              </a:lnSpc>
              <a:buNone/>
            </a:pPr>
            <a:r>
              <a:rPr lang="en-US" sz="2400" kern="0" spc="-24" dirty="0">
                <a:solidFill>
                  <a:srgbClr val="E5E0DF"/>
                </a:solidFill>
                <a:latin typeface="Inter" pitchFamily="34" charset="0"/>
                <a:ea typeface="Inter" pitchFamily="34" charset="-122"/>
                <a:cs typeface="Inter" pitchFamily="34" charset="-120"/>
              </a:rPr>
              <a:t>Users can mark their favorite stations, and the app stores these preferences in a separate file. This allows users to quickly access their most-used stations.</a:t>
            </a:r>
            <a:endParaRPr lang="en-US" sz="2400" dirty="0"/>
          </a:p>
        </p:txBody>
      </p:sp>
      <p:sp>
        <p:nvSpPr>
          <p:cNvPr id="17" name="Text 14"/>
          <p:cNvSpPr/>
          <p:nvPr/>
        </p:nvSpPr>
        <p:spPr>
          <a:xfrm>
            <a:off x="7497842" y="6982539"/>
            <a:ext cx="140018" cy="233363"/>
          </a:xfrm>
          <a:prstGeom prst="rect">
            <a:avLst/>
          </a:prstGeom>
          <a:noFill/>
          <a:ln/>
        </p:spPr>
        <p:txBody>
          <a:bodyPr wrap="none" rtlCol="0" anchor="t"/>
          <a:lstStyle/>
          <a:p>
            <a:pPr marL="0" indent="0" algn="ctr">
              <a:lnSpc>
                <a:spcPts val="1837"/>
              </a:lnSpc>
              <a:buNone/>
            </a:pPr>
            <a:endParaRPr lang="en-US" sz="1837" dirty="0"/>
          </a:p>
        </p:txBody>
      </p:sp>
      <p:sp>
        <p:nvSpPr>
          <p:cNvPr id="18" name="Text 15"/>
          <p:cNvSpPr/>
          <p:nvPr/>
        </p:nvSpPr>
        <p:spPr>
          <a:xfrm>
            <a:off x="7898368" y="6924318"/>
            <a:ext cx="2094667" cy="243007"/>
          </a:xfrm>
          <a:prstGeom prst="rect">
            <a:avLst/>
          </a:prstGeom>
          <a:noFill/>
          <a:ln/>
        </p:spPr>
        <p:txBody>
          <a:bodyPr wrap="none" rtlCol="0" anchor="t"/>
          <a:lstStyle/>
          <a:p>
            <a:pPr marL="0" indent="0">
              <a:lnSpc>
                <a:spcPts val="1914"/>
              </a:lnSpc>
              <a:buNone/>
            </a:pPr>
            <a:endParaRPr lang="en-US" sz="1531" dirty="0"/>
          </a:p>
        </p:txBody>
      </p:sp>
      <p:sp>
        <p:nvSpPr>
          <p:cNvPr id="19" name="Text 16"/>
          <p:cNvSpPr/>
          <p:nvPr/>
        </p:nvSpPr>
        <p:spPr>
          <a:xfrm>
            <a:off x="7898368" y="7260550"/>
            <a:ext cx="3110865" cy="1166217"/>
          </a:xfrm>
          <a:prstGeom prst="rect">
            <a:avLst/>
          </a:prstGeom>
          <a:noFill/>
          <a:ln/>
        </p:spPr>
        <p:txBody>
          <a:bodyPr wrap="square" rtlCol="0" anchor="t"/>
          <a:lstStyle/>
          <a:p>
            <a:pPr marL="0" indent="0">
              <a:lnSpc>
                <a:spcPts val="1837"/>
              </a:lnSpc>
              <a:buNone/>
            </a:pPr>
            <a:endParaRPr lang="en-US" sz="1225" dirty="0"/>
          </a:p>
        </p:txBody>
      </p:sp>
      <p:pic>
        <p:nvPicPr>
          <p:cNvPr id="20" name="Image 1"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
        <p:nvSpPr>
          <p:cNvPr id="21" name="Rectangle 20">
            <a:extLst>
              <a:ext uri="{FF2B5EF4-FFF2-40B4-BE49-F238E27FC236}">
                <a16:creationId xmlns:a16="http://schemas.microsoft.com/office/drawing/2014/main" id="{5247ACAB-4057-17AF-BD16-309D567105CE}"/>
              </a:ext>
            </a:extLst>
          </p:cNvPr>
          <p:cNvSpPr/>
          <p:nvPr/>
        </p:nvSpPr>
        <p:spPr>
          <a:xfrm>
            <a:off x="11391999" y="7238948"/>
            <a:ext cx="3146961" cy="899212"/>
          </a:xfrm>
          <a:prstGeom prst="rect">
            <a:avLst/>
          </a:prstGeom>
          <a:solidFill>
            <a:srgbClr val="272525"/>
          </a:solidFill>
          <a:ln>
            <a:solidFill>
              <a:srgbClr val="2725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p:spPr>
        <p:txBody>
          <a:bodyPr/>
          <a:lstStyle/>
          <a:p>
            <a:endParaRPr lang="en-US"/>
          </a:p>
        </p:txBody>
      </p:sp>
      <p:sp>
        <p:nvSpPr>
          <p:cNvPr id="4" name="Text 2"/>
          <p:cNvSpPr/>
          <p:nvPr/>
        </p:nvSpPr>
        <p:spPr>
          <a:xfrm>
            <a:off x="1793174" y="1211284"/>
            <a:ext cx="10799233" cy="1520042"/>
          </a:xfrm>
          <a:prstGeom prst="rect">
            <a:avLst/>
          </a:prstGeom>
          <a:noFill/>
          <a:ln/>
        </p:spPr>
        <p:txBody>
          <a:bodyPr wrap="square" rtlCol="0" anchor="t"/>
          <a:lstStyle/>
          <a:p>
            <a:pPr marL="0" indent="0">
              <a:lnSpc>
                <a:spcPts val="5468"/>
              </a:lnSpc>
              <a:buNone/>
            </a:pPr>
            <a:r>
              <a:rPr lang="en-US" sz="4374" b="1" kern="0" spc="-131" dirty="0">
                <a:solidFill>
                  <a:srgbClr val="FFFFFF"/>
                </a:solidFill>
                <a:latin typeface="Algerian" panose="04020705040A02060702" pitchFamily="82" charset="0"/>
                <a:ea typeface="Inter" pitchFamily="34" charset="-122"/>
                <a:cs typeface="Inter" pitchFamily="34" charset="-120"/>
              </a:rPr>
              <a:t>Station Data: Comprehensive List of </a:t>
            </a:r>
            <a:r>
              <a:rPr lang="en-US" sz="4374" b="1" kern="0" spc="-131" dirty="0">
                <a:solidFill>
                  <a:srgbClr val="C00000"/>
                </a:solidFill>
                <a:latin typeface="Algerian" panose="04020705040A02060702" pitchFamily="82" charset="0"/>
                <a:ea typeface="Inter" pitchFamily="34" charset="-122"/>
                <a:cs typeface="Inter" pitchFamily="34" charset="-120"/>
              </a:rPr>
              <a:t>450+</a:t>
            </a:r>
            <a:r>
              <a:rPr lang="en-US" sz="4374" b="1" kern="0" spc="-131" dirty="0">
                <a:solidFill>
                  <a:srgbClr val="FFFFFF"/>
                </a:solidFill>
                <a:latin typeface="Algerian" panose="04020705040A02060702" pitchFamily="82" charset="0"/>
                <a:ea typeface="Inter" pitchFamily="34" charset="-122"/>
                <a:cs typeface="Inter" pitchFamily="34" charset="-120"/>
              </a:rPr>
              <a:t> Stations in Lahore</a:t>
            </a:r>
            <a:endParaRPr lang="en-US" sz="4374" dirty="0">
              <a:latin typeface="Algerian" panose="04020705040A02060702" pitchFamily="82" charset="0"/>
            </a:endParaRPr>
          </a:p>
        </p:txBody>
      </p:sp>
      <p:sp>
        <p:nvSpPr>
          <p:cNvPr id="5" name="Text 3"/>
          <p:cNvSpPr/>
          <p:nvPr/>
        </p:nvSpPr>
        <p:spPr>
          <a:xfrm>
            <a:off x="2037992" y="3049905"/>
            <a:ext cx="3769041" cy="574596"/>
          </a:xfrm>
          <a:prstGeom prst="rect">
            <a:avLst/>
          </a:prstGeom>
          <a:noFill/>
          <a:ln/>
        </p:spPr>
        <p:txBody>
          <a:bodyPr wrap="none" rtlCol="0" anchor="t"/>
          <a:lstStyle/>
          <a:p>
            <a:pPr marL="0" indent="0">
              <a:lnSpc>
                <a:spcPts val="2734"/>
              </a:lnSpc>
              <a:buNone/>
            </a:pPr>
            <a:r>
              <a:rPr lang="en-US" sz="3200" b="1" u="sng" kern="0" spc="-66" dirty="0">
                <a:solidFill>
                  <a:srgbClr val="FFFFFF"/>
                </a:solidFill>
                <a:latin typeface="Aharoni" panose="02010803020104030203" pitchFamily="2" charset="-79"/>
                <a:ea typeface="Inter" pitchFamily="34" charset="-122"/>
                <a:cs typeface="Aharoni" panose="02010803020104030203" pitchFamily="2" charset="-79"/>
              </a:rPr>
              <a:t>Data Collection</a:t>
            </a:r>
            <a:endParaRPr lang="en-US" sz="3200" u="sng" dirty="0">
              <a:latin typeface="Aharoni" panose="02010803020104030203" pitchFamily="2" charset="-79"/>
              <a:cs typeface="Aharoni" panose="02010803020104030203" pitchFamily="2" charset="-79"/>
            </a:endParaRPr>
          </a:p>
        </p:txBody>
      </p:sp>
      <p:sp>
        <p:nvSpPr>
          <p:cNvPr id="6" name="Text 4"/>
          <p:cNvSpPr/>
          <p:nvPr/>
        </p:nvSpPr>
        <p:spPr>
          <a:xfrm>
            <a:off x="2037993" y="4605099"/>
            <a:ext cx="9682952" cy="1520042"/>
          </a:xfrm>
          <a:prstGeom prst="rect">
            <a:avLst/>
          </a:prstGeom>
          <a:noFill/>
          <a:ln/>
        </p:spPr>
        <p:txBody>
          <a:bodyPr wrap="square" rtlCol="0" anchor="t"/>
          <a:lstStyle/>
          <a:p>
            <a:pPr marL="0" indent="0">
              <a:lnSpc>
                <a:spcPts val="2624"/>
              </a:lnSpc>
              <a:buNone/>
            </a:pPr>
            <a:r>
              <a:rPr lang="en-US" sz="2800" kern="0" spc="-35" dirty="0">
                <a:solidFill>
                  <a:srgbClr val="E5E0DF"/>
                </a:solidFill>
                <a:latin typeface="Abadi" panose="020B0604020104020204" pitchFamily="34" charset="0"/>
                <a:ea typeface="Inter" pitchFamily="34" charset="-122"/>
                <a:cs typeface="Inter" pitchFamily="34" charset="-120"/>
              </a:rPr>
              <a:t>The Transport Tree project involved meticulous data collection to gather information for over 450 stations across the Metrobus, Speedobus, and Orange Train networks in Lahore. </a:t>
            </a:r>
            <a:endParaRPr lang="en-US" sz="2800" dirty="0">
              <a:latin typeface="Abadi" panose="020B0604020104020204" pitchFamily="34" charset="0"/>
            </a:endParaRPr>
          </a:p>
        </p:txBody>
      </p:sp>
      <p:sp>
        <p:nvSpPr>
          <p:cNvPr id="7" name="Text 5"/>
          <p:cNvSpPr/>
          <p:nvPr/>
        </p:nvSpPr>
        <p:spPr>
          <a:xfrm>
            <a:off x="7593806" y="4035743"/>
            <a:ext cx="2777490" cy="347186"/>
          </a:xfrm>
          <a:prstGeom prst="rect">
            <a:avLst/>
          </a:prstGeom>
          <a:noFill/>
          <a:ln/>
        </p:spPr>
        <p:txBody>
          <a:bodyPr wrap="none" rtlCol="0" anchor="t"/>
          <a:lstStyle/>
          <a:p>
            <a:pPr marL="0" indent="0">
              <a:lnSpc>
                <a:spcPts val="2734"/>
              </a:lnSpc>
              <a:buNone/>
            </a:pPr>
            <a:endParaRPr lang="en-US" sz="2187" dirty="0"/>
          </a:p>
        </p:txBody>
      </p:sp>
      <p:pic>
        <p:nvPicPr>
          <p:cNvPr id="8" name="Image 0" descr="preencoded.png">
            <a:hlinkClick r:id="rId3"/>
          </p:cNvPr>
          <p:cNvPicPr>
            <a:picLocks noChangeAspect="1"/>
          </p:cNvPicPr>
          <p:nvPr/>
        </p:nvPicPr>
        <p:blipFill>
          <a:blip r:embed="rId4"/>
          <a:stretch>
            <a:fillRect/>
          </a:stretch>
        </p:blipFill>
        <p:spPr>
          <a:xfrm>
            <a:off x="12242153" y="7589520"/>
            <a:ext cx="2296807" cy="548640"/>
          </a:xfrm>
          <a:prstGeom prst="rect">
            <a:avLst/>
          </a:prstGeom>
        </p:spPr>
      </p:pic>
      <p:sp>
        <p:nvSpPr>
          <p:cNvPr id="9" name="Rectangle 8">
            <a:extLst>
              <a:ext uri="{FF2B5EF4-FFF2-40B4-BE49-F238E27FC236}">
                <a16:creationId xmlns:a16="http://schemas.microsoft.com/office/drawing/2014/main" id="{56C6F1BA-48BE-6401-0070-4D9F44A48F07}"/>
              </a:ext>
            </a:extLst>
          </p:cNvPr>
          <p:cNvSpPr/>
          <p:nvPr/>
        </p:nvSpPr>
        <p:spPr>
          <a:xfrm>
            <a:off x="11391999" y="7238948"/>
            <a:ext cx="3146961" cy="899212"/>
          </a:xfrm>
          <a:prstGeom prst="rect">
            <a:avLst/>
          </a:prstGeom>
          <a:solidFill>
            <a:srgbClr val="272525"/>
          </a:solidFill>
          <a:ln>
            <a:solidFill>
              <a:srgbClr val="2725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23693" y="0"/>
            <a:ext cx="14630400" cy="8229600"/>
          </a:xfrm>
          <a:prstGeom prst="rect">
            <a:avLst/>
          </a:prstGeom>
          <a:solidFill>
            <a:srgbClr val="272525"/>
          </a:solidFill>
          <a:ln/>
        </p:spPr>
        <p:txBody>
          <a:bodyPr/>
          <a:lstStyle/>
          <a:p>
            <a:endParaRPr lang="en-US"/>
          </a:p>
        </p:txBody>
      </p:sp>
      <p:sp>
        <p:nvSpPr>
          <p:cNvPr id="4" name="Text 2"/>
          <p:cNvSpPr/>
          <p:nvPr/>
        </p:nvSpPr>
        <p:spPr>
          <a:xfrm>
            <a:off x="2589371" y="547688"/>
            <a:ext cx="9451658" cy="1243489"/>
          </a:xfrm>
          <a:prstGeom prst="rect">
            <a:avLst/>
          </a:prstGeom>
          <a:noFill/>
          <a:ln/>
        </p:spPr>
        <p:txBody>
          <a:bodyPr wrap="square" rtlCol="0" anchor="t"/>
          <a:lstStyle/>
          <a:p>
            <a:pPr marL="0" indent="0">
              <a:lnSpc>
                <a:spcPts val="4896"/>
              </a:lnSpc>
              <a:buNone/>
            </a:pPr>
            <a:r>
              <a:rPr lang="en-US" sz="4800" b="1" kern="0" spc="-118" dirty="0">
                <a:solidFill>
                  <a:srgbClr val="FFFFFF"/>
                </a:solidFill>
                <a:latin typeface="Inter" pitchFamily="34" charset="0"/>
                <a:ea typeface="Inter" pitchFamily="34" charset="-122"/>
                <a:cs typeface="Inter" pitchFamily="34" charset="-120"/>
              </a:rPr>
              <a:t>Favorite Stations: Adding, Updating, and Viewing Favorites</a:t>
            </a:r>
            <a:endParaRPr lang="en-US" sz="4800" dirty="0"/>
          </a:p>
        </p:txBody>
      </p:sp>
      <p:pic>
        <p:nvPicPr>
          <p:cNvPr id="5" name="Image 0" descr="preencoded.png"/>
          <p:cNvPicPr>
            <a:picLocks noChangeAspect="1"/>
          </p:cNvPicPr>
          <p:nvPr/>
        </p:nvPicPr>
        <p:blipFill>
          <a:blip r:embed="rId3"/>
          <a:stretch>
            <a:fillRect/>
          </a:stretch>
        </p:blipFill>
        <p:spPr>
          <a:xfrm>
            <a:off x="4172426" y="2189083"/>
            <a:ext cx="1559481" cy="1424821"/>
          </a:xfrm>
          <a:prstGeom prst="rect">
            <a:avLst/>
          </a:prstGeom>
        </p:spPr>
      </p:pic>
      <p:sp>
        <p:nvSpPr>
          <p:cNvPr id="6" name="Text 3"/>
          <p:cNvSpPr/>
          <p:nvPr/>
        </p:nvSpPr>
        <p:spPr>
          <a:xfrm>
            <a:off x="4894898" y="2898815"/>
            <a:ext cx="114300" cy="373023"/>
          </a:xfrm>
          <a:prstGeom prst="rect">
            <a:avLst/>
          </a:prstGeom>
          <a:noFill/>
          <a:ln/>
        </p:spPr>
        <p:txBody>
          <a:bodyPr wrap="none" rtlCol="0" anchor="t"/>
          <a:lstStyle/>
          <a:p>
            <a:pPr marL="0" indent="0" algn="ctr">
              <a:lnSpc>
                <a:spcPts val="2938"/>
              </a:lnSpc>
              <a:buNone/>
            </a:pPr>
            <a:r>
              <a:rPr lang="en-US" sz="1959" b="1" kern="0" spc="-59" dirty="0">
                <a:solidFill>
                  <a:srgbClr val="E5E0DF"/>
                </a:solidFill>
                <a:latin typeface="Inter" pitchFamily="34" charset="0"/>
                <a:ea typeface="Inter" pitchFamily="34" charset="-122"/>
                <a:cs typeface="Inter" pitchFamily="34" charset="-120"/>
              </a:rPr>
              <a:t>1</a:t>
            </a:r>
            <a:endParaRPr lang="en-US" sz="1959" dirty="0"/>
          </a:p>
        </p:txBody>
      </p:sp>
      <p:sp>
        <p:nvSpPr>
          <p:cNvPr id="7" name="Text 4"/>
          <p:cNvSpPr/>
          <p:nvPr/>
        </p:nvSpPr>
        <p:spPr>
          <a:xfrm>
            <a:off x="5930860" y="2537222"/>
            <a:ext cx="2487216" cy="310872"/>
          </a:xfrm>
          <a:prstGeom prst="rect">
            <a:avLst/>
          </a:prstGeom>
          <a:noFill/>
          <a:ln/>
        </p:spPr>
        <p:txBody>
          <a:bodyPr wrap="none" rtlCol="0" anchor="t"/>
          <a:lstStyle/>
          <a:p>
            <a:pPr marL="0" indent="0" algn="l">
              <a:lnSpc>
                <a:spcPts val="2448"/>
              </a:lnSpc>
              <a:buNone/>
            </a:pPr>
            <a:r>
              <a:rPr lang="en-US" sz="2400" b="1" kern="0" spc="-59" dirty="0">
                <a:solidFill>
                  <a:srgbClr val="E5E0DF"/>
                </a:solidFill>
                <a:latin typeface="Algerian" panose="04020705040A02060702" pitchFamily="82" charset="0"/>
                <a:ea typeface="Inter" pitchFamily="34" charset="-122"/>
                <a:cs typeface="Inter" pitchFamily="34" charset="-120"/>
              </a:rPr>
              <a:t>Add to Favorites</a:t>
            </a:r>
            <a:endParaRPr lang="en-US" sz="2400" dirty="0">
              <a:latin typeface="Algerian" panose="04020705040A02060702" pitchFamily="82" charset="0"/>
            </a:endParaRPr>
          </a:p>
        </p:txBody>
      </p:sp>
      <p:sp>
        <p:nvSpPr>
          <p:cNvPr id="8" name="Text 5"/>
          <p:cNvSpPr/>
          <p:nvPr/>
        </p:nvSpPr>
        <p:spPr>
          <a:xfrm>
            <a:off x="5930860" y="2967395"/>
            <a:ext cx="5436275" cy="298371"/>
          </a:xfrm>
          <a:prstGeom prst="rect">
            <a:avLst/>
          </a:prstGeom>
          <a:noFill/>
          <a:ln/>
        </p:spPr>
        <p:txBody>
          <a:bodyPr wrap="none" rtlCol="0" anchor="t"/>
          <a:lstStyle/>
          <a:p>
            <a:pPr marL="0" indent="0" algn="l">
              <a:lnSpc>
                <a:spcPts val="2350"/>
              </a:lnSpc>
              <a:buNone/>
            </a:pPr>
            <a:r>
              <a:rPr lang="en-US" sz="2800" kern="0" spc="-31" dirty="0">
                <a:solidFill>
                  <a:srgbClr val="E5E0DF"/>
                </a:solidFill>
                <a:latin typeface="Inter" pitchFamily="34" charset="0"/>
                <a:ea typeface="Inter" pitchFamily="34" charset="-122"/>
                <a:cs typeface="Inter" pitchFamily="34" charset="-120"/>
              </a:rPr>
              <a:t>Users can add any station to their personalized favorites list.</a:t>
            </a:r>
            <a:endParaRPr lang="en-US" sz="2800" dirty="0"/>
          </a:p>
        </p:txBody>
      </p:sp>
      <p:sp>
        <p:nvSpPr>
          <p:cNvPr id="9" name="Shape 6"/>
          <p:cNvSpPr/>
          <p:nvPr/>
        </p:nvSpPr>
        <p:spPr>
          <a:xfrm>
            <a:off x="5781556" y="3616464"/>
            <a:ext cx="6209824" cy="19883"/>
          </a:xfrm>
          <a:prstGeom prst="roundRect">
            <a:avLst>
              <a:gd name="adj" fmla="val 450349"/>
            </a:avLst>
          </a:prstGeom>
          <a:solidFill>
            <a:srgbClr val="2A1999"/>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3392686" y="3663553"/>
            <a:ext cx="3118961" cy="1424821"/>
          </a:xfrm>
          <a:prstGeom prst="rect">
            <a:avLst/>
          </a:prstGeom>
        </p:spPr>
      </p:pic>
      <p:sp>
        <p:nvSpPr>
          <p:cNvPr id="11" name="Text 7"/>
          <p:cNvSpPr/>
          <p:nvPr/>
        </p:nvSpPr>
        <p:spPr>
          <a:xfrm>
            <a:off x="4877514" y="4189452"/>
            <a:ext cx="149185" cy="373023"/>
          </a:xfrm>
          <a:prstGeom prst="rect">
            <a:avLst/>
          </a:prstGeom>
          <a:noFill/>
          <a:ln/>
        </p:spPr>
        <p:txBody>
          <a:bodyPr wrap="none" rtlCol="0" anchor="t"/>
          <a:lstStyle/>
          <a:p>
            <a:pPr marL="0" indent="0" algn="ctr">
              <a:lnSpc>
                <a:spcPts val="2938"/>
              </a:lnSpc>
              <a:buNone/>
            </a:pPr>
            <a:r>
              <a:rPr lang="en-US" sz="1959" b="1" kern="0" spc="-59" dirty="0">
                <a:solidFill>
                  <a:srgbClr val="E5E0DF"/>
                </a:solidFill>
                <a:latin typeface="Inter" pitchFamily="34" charset="0"/>
                <a:ea typeface="Inter" pitchFamily="34" charset="-122"/>
                <a:cs typeface="Inter" pitchFamily="34" charset="-120"/>
              </a:rPr>
              <a:t>2</a:t>
            </a:r>
            <a:endParaRPr lang="en-US" sz="1959" dirty="0"/>
          </a:p>
        </p:txBody>
      </p:sp>
      <p:sp>
        <p:nvSpPr>
          <p:cNvPr id="12" name="Text 8"/>
          <p:cNvSpPr/>
          <p:nvPr/>
        </p:nvSpPr>
        <p:spPr>
          <a:xfrm>
            <a:off x="6710601" y="4011692"/>
            <a:ext cx="2487216" cy="310872"/>
          </a:xfrm>
          <a:prstGeom prst="rect">
            <a:avLst/>
          </a:prstGeom>
          <a:noFill/>
          <a:ln/>
        </p:spPr>
        <p:txBody>
          <a:bodyPr wrap="none" rtlCol="0" anchor="t"/>
          <a:lstStyle/>
          <a:p>
            <a:pPr marL="0" indent="0" algn="l">
              <a:lnSpc>
                <a:spcPts val="2448"/>
              </a:lnSpc>
              <a:buNone/>
            </a:pPr>
            <a:r>
              <a:rPr lang="en-US" sz="2400" b="1" kern="0" spc="-59" dirty="0">
                <a:solidFill>
                  <a:srgbClr val="E5E0DF"/>
                </a:solidFill>
                <a:latin typeface="Algerian" panose="04020705040A02060702" pitchFamily="82" charset="0"/>
                <a:ea typeface="Inter" pitchFamily="34" charset="-122"/>
                <a:cs typeface="Inter" pitchFamily="34" charset="-120"/>
              </a:rPr>
              <a:t>Update Favorites</a:t>
            </a:r>
            <a:endParaRPr lang="en-US" sz="2400" dirty="0">
              <a:latin typeface="Algerian" panose="04020705040A02060702" pitchFamily="82" charset="0"/>
            </a:endParaRPr>
          </a:p>
        </p:txBody>
      </p:sp>
      <p:sp>
        <p:nvSpPr>
          <p:cNvPr id="13" name="Text 9"/>
          <p:cNvSpPr/>
          <p:nvPr/>
        </p:nvSpPr>
        <p:spPr>
          <a:xfrm>
            <a:off x="6710601" y="4441865"/>
            <a:ext cx="4202668" cy="298371"/>
          </a:xfrm>
          <a:prstGeom prst="rect">
            <a:avLst/>
          </a:prstGeom>
          <a:noFill/>
          <a:ln/>
        </p:spPr>
        <p:txBody>
          <a:bodyPr wrap="none" rtlCol="0" anchor="t"/>
          <a:lstStyle/>
          <a:p>
            <a:pPr marL="0" indent="0" algn="l">
              <a:lnSpc>
                <a:spcPts val="2350"/>
              </a:lnSpc>
              <a:buNone/>
            </a:pPr>
            <a:r>
              <a:rPr lang="en-US" sz="2800" kern="0" spc="-31" dirty="0">
                <a:solidFill>
                  <a:srgbClr val="E5E0DF"/>
                </a:solidFill>
                <a:latin typeface="Inter" pitchFamily="34" charset="0"/>
                <a:ea typeface="Inter" pitchFamily="34" charset="-122"/>
                <a:cs typeface="Inter" pitchFamily="34" charset="-120"/>
              </a:rPr>
              <a:t>Users can remove  their favorite lists</a:t>
            </a:r>
            <a:r>
              <a:rPr lang="en-US" sz="1567" kern="0" spc="-31" dirty="0">
                <a:solidFill>
                  <a:srgbClr val="E5E0DF"/>
                </a:solidFill>
                <a:latin typeface="Inter" pitchFamily="34" charset="0"/>
                <a:ea typeface="Inter" pitchFamily="34" charset="-122"/>
                <a:cs typeface="Inter" pitchFamily="34" charset="-120"/>
              </a:rPr>
              <a:t>.</a:t>
            </a:r>
            <a:endParaRPr lang="en-US" sz="1567" dirty="0"/>
          </a:p>
        </p:txBody>
      </p:sp>
      <p:sp>
        <p:nvSpPr>
          <p:cNvPr id="14" name="Shape 10"/>
          <p:cNvSpPr/>
          <p:nvPr/>
        </p:nvSpPr>
        <p:spPr>
          <a:xfrm>
            <a:off x="6561296" y="5090934"/>
            <a:ext cx="5430083" cy="19883"/>
          </a:xfrm>
          <a:prstGeom prst="roundRect">
            <a:avLst>
              <a:gd name="adj" fmla="val 450349"/>
            </a:avLst>
          </a:prstGeom>
          <a:solidFill>
            <a:srgbClr val="2A1999"/>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2612946" y="5138023"/>
            <a:ext cx="4678561" cy="1424821"/>
          </a:xfrm>
          <a:prstGeom prst="rect">
            <a:avLst/>
          </a:prstGeom>
        </p:spPr>
      </p:pic>
      <p:sp>
        <p:nvSpPr>
          <p:cNvPr id="16" name="Text 11"/>
          <p:cNvSpPr/>
          <p:nvPr/>
        </p:nvSpPr>
        <p:spPr>
          <a:xfrm>
            <a:off x="4873823" y="5663922"/>
            <a:ext cx="156567" cy="373023"/>
          </a:xfrm>
          <a:prstGeom prst="rect">
            <a:avLst/>
          </a:prstGeom>
          <a:noFill/>
          <a:ln/>
        </p:spPr>
        <p:txBody>
          <a:bodyPr wrap="none" rtlCol="0" anchor="t"/>
          <a:lstStyle/>
          <a:p>
            <a:pPr marL="0" indent="0" algn="ctr">
              <a:lnSpc>
                <a:spcPts val="2938"/>
              </a:lnSpc>
              <a:buNone/>
            </a:pPr>
            <a:r>
              <a:rPr lang="en-US" sz="1959" b="1" kern="0" spc="-59" dirty="0">
                <a:solidFill>
                  <a:srgbClr val="E5E0DF"/>
                </a:solidFill>
                <a:latin typeface="Inter" pitchFamily="34" charset="0"/>
                <a:ea typeface="Inter" pitchFamily="34" charset="-122"/>
                <a:cs typeface="Inter" pitchFamily="34" charset="-120"/>
              </a:rPr>
              <a:t>3</a:t>
            </a:r>
            <a:endParaRPr lang="en-US" sz="1959" dirty="0"/>
          </a:p>
        </p:txBody>
      </p:sp>
      <p:sp>
        <p:nvSpPr>
          <p:cNvPr id="17" name="Text 12"/>
          <p:cNvSpPr/>
          <p:nvPr/>
        </p:nvSpPr>
        <p:spPr>
          <a:xfrm>
            <a:off x="7490460" y="5336977"/>
            <a:ext cx="2487216" cy="310872"/>
          </a:xfrm>
          <a:prstGeom prst="rect">
            <a:avLst/>
          </a:prstGeom>
          <a:noFill/>
          <a:ln/>
        </p:spPr>
        <p:txBody>
          <a:bodyPr wrap="none" rtlCol="0" anchor="t"/>
          <a:lstStyle/>
          <a:p>
            <a:pPr marL="0" indent="0" algn="l">
              <a:lnSpc>
                <a:spcPts val="2448"/>
              </a:lnSpc>
              <a:buNone/>
            </a:pPr>
            <a:r>
              <a:rPr lang="en-US" sz="2400" b="1" kern="0" spc="-59" dirty="0">
                <a:solidFill>
                  <a:srgbClr val="E5E0DF"/>
                </a:solidFill>
                <a:latin typeface="Algerian" panose="04020705040A02060702" pitchFamily="82" charset="0"/>
                <a:ea typeface="Inter" pitchFamily="34" charset="-122"/>
                <a:cs typeface="Inter" pitchFamily="34" charset="-120"/>
              </a:rPr>
              <a:t>View Favorites</a:t>
            </a:r>
            <a:endParaRPr lang="en-US" sz="2400" dirty="0">
              <a:latin typeface="Algerian" panose="04020705040A02060702" pitchFamily="82" charset="0"/>
            </a:endParaRPr>
          </a:p>
        </p:txBody>
      </p:sp>
      <p:sp>
        <p:nvSpPr>
          <p:cNvPr id="18" name="Text 13"/>
          <p:cNvSpPr/>
          <p:nvPr/>
        </p:nvSpPr>
        <p:spPr>
          <a:xfrm>
            <a:off x="7490460" y="5767149"/>
            <a:ext cx="4351615" cy="596741"/>
          </a:xfrm>
          <a:prstGeom prst="rect">
            <a:avLst/>
          </a:prstGeom>
          <a:noFill/>
          <a:ln/>
        </p:spPr>
        <p:txBody>
          <a:bodyPr wrap="square" rtlCol="0" anchor="t"/>
          <a:lstStyle/>
          <a:p>
            <a:pPr marL="0" indent="0" algn="l">
              <a:lnSpc>
                <a:spcPts val="2350"/>
              </a:lnSpc>
              <a:buNone/>
            </a:pPr>
            <a:r>
              <a:rPr lang="en-US" sz="2800" kern="0" spc="-31" dirty="0">
                <a:solidFill>
                  <a:srgbClr val="E5E0DF"/>
                </a:solidFill>
                <a:latin typeface="Inter" pitchFamily="34" charset="0"/>
                <a:ea typeface="Inter" pitchFamily="34" charset="-122"/>
                <a:cs typeface="Inter" pitchFamily="34" charset="-120"/>
              </a:rPr>
              <a:t>Users can quickly access their favorite stations for convenient planning.</a:t>
            </a:r>
            <a:endParaRPr lang="en-US" sz="2800" dirty="0"/>
          </a:p>
        </p:txBody>
      </p:sp>
      <p:sp>
        <p:nvSpPr>
          <p:cNvPr id="19" name="Text 14"/>
          <p:cNvSpPr/>
          <p:nvPr/>
        </p:nvSpPr>
        <p:spPr>
          <a:xfrm>
            <a:off x="2589371" y="6786682"/>
            <a:ext cx="9451658" cy="895112"/>
          </a:xfrm>
          <a:prstGeom prst="rect">
            <a:avLst/>
          </a:prstGeom>
          <a:noFill/>
          <a:ln/>
        </p:spPr>
        <p:txBody>
          <a:bodyPr wrap="square" rtlCol="0" anchor="t"/>
          <a:lstStyle/>
          <a:p>
            <a:pPr marL="0" indent="0">
              <a:lnSpc>
                <a:spcPts val="2350"/>
              </a:lnSpc>
              <a:buNone/>
            </a:pPr>
            <a:r>
              <a:rPr lang="en-US" sz="2400" kern="0" spc="-31" dirty="0">
                <a:solidFill>
                  <a:srgbClr val="E5E0DF"/>
                </a:solidFill>
                <a:latin typeface="Inter" pitchFamily="34" charset="0"/>
                <a:ea typeface="Inter" pitchFamily="34" charset="-122"/>
                <a:cs typeface="Inter" pitchFamily="34" charset="-120"/>
              </a:rPr>
              <a:t>The favorite station feature allows users to create a personalized list of their most frequently used stations for quick access. This enhances the user experience by providing a streamlined approach to planning trips and accessing essential information.</a:t>
            </a:r>
            <a:endParaRPr lang="en-US" sz="2400" dirty="0"/>
          </a:p>
        </p:txBody>
      </p:sp>
      <p:pic>
        <p:nvPicPr>
          <p:cNvPr id="20" name="Image 3" descr="preencoded.png">
            <a:hlinkClick r:id="rId6"/>
          </p:cNvPr>
          <p:cNvPicPr>
            <a:picLocks noChangeAspect="1"/>
          </p:cNvPicPr>
          <p:nvPr/>
        </p:nvPicPr>
        <p:blipFill>
          <a:blip r:embed="rId7"/>
          <a:stretch>
            <a:fillRect/>
          </a:stretch>
        </p:blipFill>
        <p:spPr>
          <a:xfrm>
            <a:off x="12242153" y="7589520"/>
            <a:ext cx="2296807" cy="548640"/>
          </a:xfrm>
          <a:prstGeom prst="rect">
            <a:avLst/>
          </a:prstGeom>
        </p:spPr>
      </p:pic>
      <p:sp>
        <p:nvSpPr>
          <p:cNvPr id="21" name="Rectangle 20">
            <a:extLst>
              <a:ext uri="{FF2B5EF4-FFF2-40B4-BE49-F238E27FC236}">
                <a16:creationId xmlns:a16="http://schemas.microsoft.com/office/drawing/2014/main" id="{4BEAAD79-6690-044C-5035-A37A62681A7D}"/>
              </a:ext>
            </a:extLst>
          </p:cNvPr>
          <p:cNvSpPr/>
          <p:nvPr/>
        </p:nvSpPr>
        <p:spPr>
          <a:xfrm>
            <a:off x="11980103" y="7498080"/>
            <a:ext cx="2558857" cy="548640"/>
          </a:xfrm>
          <a:prstGeom prst="rect">
            <a:avLst/>
          </a:prstGeom>
          <a:solidFill>
            <a:srgbClr val="272525"/>
          </a:solidFill>
          <a:ln>
            <a:solidFill>
              <a:srgbClr val="2725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91440" y="0"/>
            <a:ext cx="14630400" cy="8229600"/>
          </a:xfrm>
          <a:prstGeom prst="rect">
            <a:avLst/>
          </a:prstGeom>
          <a:solidFill>
            <a:srgbClr val="272525"/>
          </a:solidFill>
          <a:ln/>
        </p:spPr>
        <p:txBody>
          <a:bodyPr/>
          <a:lstStyle/>
          <a:p>
            <a:endParaRPr lang="en-US"/>
          </a:p>
        </p:txBody>
      </p:sp>
      <p:sp>
        <p:nvSpPr>
          <p:cNvPr id="4" name="Text 2"/>
          <p:cNvSpPr/>
          <p:nvPr/>
        </p:nvSpPr>
        <p:spPr>
          <a:xfrm>
            <a:off x="1662545" y="261257"/>
            <a:ext cx="10276447" cy="1335729"/>
          </a:xfrm>
          <a:prstGeom prst="rect">
            <a:avLst/>
          </a:prstGeom>
          <a:noFill/>
          <a:ln/>
        </p:spPr>
        <p:txBody>
          <a:bodyPr wrap="none" rtlCol="0" anchor="t"/>
          <a:lstStyle/>
          <a:p>
            <a:pPr marL="0" indent="0">
              <a:lnSpc>
                <a:spcPts val="5468"/>
              </a:lnSpc>
              <a:buNone/>
            </a:pPr>
            <a:r>
              <a:rPr lang="en-US" sz="4800" b="1" kern="0" spc="-131" dirty="0">
                <a:solidFill>
                  <a:srgbClr val="FFFFFF"/>
                </a:solidFill>
                <a:latin typeface="Inter" pitchFamily="34" charset="0"/>
                <a:ea typeface="Inter" pitchFamily="34" charset="-122"/>
                <a:cs typeface="Inter" pitchFamily="34" charset="-120"/>
              </a:rPr>
              <a:t>Future Enhancements and Possibilities</a:t>
            </a:r>
            <a:endParaRPr lang="en-US" sz="4800" dirty="0"/>
          </a:p>
        </p:txBody>
      </p:sp>
      <p:pic>
        <p:nvPicPr>
          <p:cNvPr id="5" name="Image 0" descr="preencoded.png"/>
          <p:cNvPicPr>
            <a:picLocks noChangeAspect="1"/>
          </p:cNvPicPr>
          <p:nvPr/>
        </p:nvPicPr>
        <p:blipFill>
          <a:blip r:embed="rId3"/>
          <a:stretch>
            <a:fillRect/>
          </a:stretch>
        </p:blipFill>
        <p:spPr>
          <a:xfrm>
            <a:off x="553559" y="1596986"/>
            <a:ext cx="555427" cy="555427"/>
          </a:xfrm>
          <a:prstGeom prst="rect">
            <a:avLst/>
          </a:prstGeom>
        </p:spPr>
      </p:pic>
      <p:sp>
        <p:nvSpPr>
          <p:cNvPr id="6" name="Text 3"/>
          <p:cNvSpPr/>
          <p:nvPr/>
        </p:nvSpPr>
        <p:spPr>
          <a:xfrm>
            <a:off x="308758" y="2548533"/>
            <a:ext cx="1729235" cy="1471971"/>
          </a:xfrm>
          <a:prstGeom prst="rect">
            <a:avLst/>
          </a:prstGeom>
          <a:noFill/>
          <a:ln/>
        </p:spPr>
        <p:txBody>
          <a:bodyPr wrap="square" rtlCol="0" anchor="t"/>
          <a:lstStyle/>
          <a:p>
            <a:pPr marL="0" indent="0" algn="l">
              <a:lnSpc>
                <a:spcPts val="2734"/>
              </a:lnSpc>
              <a:buNone/>
            </a:pPr>
            <a:r>
              <a:rPr lang="en-US" sz="2400" b="1" kern="0" spc="-66" dirty="0">
                <a:solidFill>
                  <a:srgbClr val="E5E0DF"/>
                </a:solidFill>
                <a:latin typeface="Algerian" panose="04020705040A02060702" pitchFamily="82" charset="0"/>
                <a:ea typeface="Inter" pitchFamily="34" charset="-122"/>
                <a:cs typeface="Inter" pitchFamily="34" charset="-120"/>
              </a:rPr>
              <a:t>Real-Time Traffic Data</a:t>
            </a:r>
            <a:endParaRPr lang="en-US" sz="2400" dirty="0">
              <a:latin typeface="Algerian" panose="04020705040A02060702" pitchFamily="82" charset="0"/>
            </a:endParaRPr>
          </a:p>
        </p:txBody>
      </p:sp>
      <p:sp>
        <p:nvSpPr>
          <p:cNvPr id="7" name="Text 4"/>
          <p:cNvSpPr/>
          <p:nvPr/>
        </p:nvSpPr>
        <p:spPr>
          <a:xfrm>
            <a:off x="190005" y="4020503"/>
            <a:ext cx="2037652" cy="2132765"/>
          </a:xfrm>
          <a:prstGeom prst="rect">
            <a:avLst/>
          </a:prstGeom>
          <a:noFill/>
          <a:ln/>
        </p:spPr>
        <p:txBody>
          <a:bodyPr wrap="square" rtlCol="0" anchor="t"/>
          <a:lstStyle/>
          <a:p>
            <a:pPr marL="0" indent="0" algn="l">
              <a:lnSpc>
                <a:spcPts val="2624"/>
              </a:lnSpc>
              <a:buNone/>
            </a:pPr>
            <a:r>
              <a:rPr lang="en-US" sz="2400" kern="0" spc="-35" dirty="0">
                <a:solidFill>
                  <a:srgbClr val="E5E0DF"/>
                </a:solidFill>
                <a:latin typeface="Abadi" panose="020B0604020104020204" pitchFamily="34" charset="0"/>
                <a:ea typeface="Inter" pitchFamily="34" charset="-122"/>
                <a:cs typeface="Inter" pitchFamily="34" charset="-120"/>
              </a:rPr>
              <a:t>Integrate real-time traffic data into the system to provide users with more accurate travel time estimates and help them avoid congestion.</a:t>
            </a:r>
            <a:endParaRPr lang="en-US" sz="2400" dirty="0">
              <a:latin typeface="Abadi" panose="020B0604020104020204" pitchFamily="34" charset="0"/>
            </a:endParaRPr>
          </a:p>
        </p:txBody>
      </p:sp>
      <p:pic>
        <p:nvPicPr>
          <p:cNvPr id="8" name="Image 1" descr="preencoded.png"/>
          <p:cNvPicPr>
            <a:picLocks noChangeAspect="1"/>
          </p:cNvPicPr>
          <p:nvPr/>
        </p:nvPicPr>
        <p:blipFill>
          <a:blip r:embed="rId4"/>
          <a:stretch>
            <a:fillRect/>
          </a:stretch>
        </p:blipFill>
        <p:spPr>
          <a:xfrm>
            <a:off x="3246835" y="1596985"/>
            <a:ext cx="555427" cy="555427"/>
          </a:xfrm>
          <a:prstGeom prst="rect">
            <a:avLst/>
          </a:prstGeom>
        </p:spPr>
      </p:pic>
      <p:sp>
        <p:nvSpPr>
          <p:cNvPr id="9" name="Text 5"/>
          <p:cNvSpPr/>
          <p:nvPr/>
        </p:nvSpPr>
        <p:spPr>
          <a:xfrm>
            <a:off x="2691408" y="2548534"/>
            <a:ext cx="2474358" cy="788433"/>
          </a:xfrm>
          <a:prstGeom prst="rect">
            <a:avLst/>
          </a:prstGeom>
          <a:noFill/>
          <a:ln/>
        </p:spPr>
        <p:txBody>
          <a:bodyPr wrap="square" rtlCol="0" anchor="t"/>
          <a:lstStyle/>
          <a:p>
            <a:pPr marL="0" indent="0" algn="l">
              <a:lnSpc>
                <a:spcPts val="2734"/>
              </a:lnSpc>
              <a:buNone/>
            </a:pPr>
            <a:r>
              <a:rPr lang="en-US" sz="2400" b="1" kern="0" spc="-66" dirty="0">
                <a:solidFill>
                  <a:srgbClr val="E5E0DF"/>
                </a:solidFill>
                <a:latin typeface="Algerian" panose="04020705040A02060702" pitchFamily="82" charset="0"/>
                <a:ea typeface="Inter" pitchFamily="34" charset="-122"/>
                <a:cs typeface="Inter" pitchFamily="34" charset="-120"/>
              </a:rPr>
              <a:t>Personalized Route Suggestions</a:t>
            </a:r>
            <a:endParaRPr lang="en-US" sz="2400" dirty="0">
              <a:latin typeface="Algerian" panose="04020705040A02060702" pitchFamily="82" charset="0"/>
            </a:endParaRPr>
          </a:p>
        </p:txBody>
      </p:sp>
      <p:sp>
        <p:nvSpPr>
          <p:cNvPr id="10" name="Text 6"/>
          <p:cNvSpPr/>
          <p:nvPr/>
        </p:nvSpPr>
        <p:spPr>
          <a:xfrm>
            <a:off x="2691408" y="4020504"/>
            <a:ext cx="2388633" cy="3218444"/>
          </a:xfrm>
          <a:prstGeom prst="rect">
            <a:avLst/>
          </a:prstGeom>
          <a:noFill/>
          <a:ln/>
        </p:spPr>
        <p:txBody>
          <a:bodyPr wrap="square" rtlCol="0" anchor="t"/>
          <a:lstStyle/>
          <a:p>
            <a:pPr marL="0" indent="0" algn="l">
              <a:lnSpc>
                <a:spcPts val="2624"/>
              </a:lnSpc>
              <a:buNone/>
            </a:pPr>
            <a:r>
              <a:rPr lang="en-US" sz="2400" kern="0" spc="-35" dirty="0">
                <a:solidFill>
                  <a:srgbClr val="E5E0DF"/>
                </a:solidFill>
                <a:latin typeface="Abadi" panose="020B0604020104020204" pitchFamily="34" charset="0"/>
                <a:ea typeface="Inter" pitchFamily="34" charset="-122"/>
                <a:cs typeface="Inter" pitchFamily="34" charset="-120"/>
              </a:rPr>
              <a:t>Develop an algorithm that learns user preferences and provides personalized route suggestions for their daily commutes.</a:t>
            </a:r>
            <a:endParaRPr lang="en-US" sz="2400" dirty="0">
              <a:latin typeface="Abadi" panose="020B0604020104020204" pitchFamily="34" charset="0"/>
            </a:endParaRPr>
          </a:p>
        </p:txBody>
      </p:sp>
      <p:pic>
        <p:nvPicPr>
          <p:cNvPr id="11" name="Image 2" descr="preencoded.png"/>
          <p:cNvPicPr>
            <a:picLocks noChangeAspect="1"/>
          </p:cNvPicPr>
          <p:nvPr/>
        </p:nvPicPr>
        <p:blipFill>
          <a:blip r:embed="rId5"/>
          <a:stretch>
            <a:fillRect/>
          </a:stretch>
        </p:blipFill>
        <p:spPr>
          <a:xfrm>
            <a:off x="6752497" y="1574108"/>
            <a:ext cx="555427" cy="555427"/>
          </a:xfrm>
          <a:prstGeom prst="rect">
            <a:avLst/>
          </a:prstGeom>
        </p:spPr>
      </p:pic>
      <p:sp>
        <p:nvSpPr>
          <p:cNvPr id="12" name="Text 7"/>
          <p:cNvSpPr/>
          <p:nvPr/>
        </p:nvSpPr>
        <p:spPr>
          <a:xfrm>
            <a:off x="6245342" y="2548534"/>
            <a:ext cx="2388632" cy="1200865"/>
          </a:xfrm>
          <a:prstGeom prst="rect">
            <a:avLst/>
          </a:prstGeom>
          <a:noFill/>
          <a:ln/>
        </p:spPr>
        <p:txBody>
          <a:bodyPr wrap="square" rtlCol="0" anchor="t"/>
          <a:lstStyle/>
          <a:p>
            <a:pPr marL="0" indent="0" algn="l">
              <a:lnSpc>
                <a:spcPts val="2734"/>
              </a:lnSpc>
              <a:buNone/>
            </a:pPr>
            <a:r>
              <a:rPr lang="en-US" sz="2400" b="1" kern="0" spc="-66" dirty="0">
                <a:solidFill>
                  <a:srgbClr val="E5E0DF"/>
                </a:solidFill>
                <a:latin typeface="Algerian" panose="04020705040A02060702" pitchFamily="82" charset="0"/>
                <a:ea typeface="Inter" pitchFamily="34" charset="-122"/>
                <a:cs typeface="Inter" pitchFamily="34" charset="-120"/>
              </a:rPr>
              <a:t>Accessibility Improvements</a:t>
            </a:r>
            <a:endParaRPr lang="en-US" sz="2400" dirty="0">
              <a:latin typeface="Algerian" panose="04020705040A02060702" pitchFamily="82" charset="0"/>
            </a:endParaRPr>
          </a:p>
        </p:txBody>
      </p:sp>
      <p:sp>
        <p:nvSpPr>
          <p:cNvPr id="13" name="Text 8"/>
          <p:cNvSpPr/>
          <p:nvPr/>
        </p:nvSpPr>
        <p:spPr>
          <a:xfrm>
            <a:off x="6245342" y="4114799"/>
            <a:ext cx="1924881" cy="2887963"/>
          </a:xfrm>
          <a:prstGeom prst="rect">
            <a:avLst/>
          </a:prstGeom>
          <a:noFill/>
          <a:ln/>
        </p:spPr>
        <p:txBody>
          <a:bodyPr wrap="square" rtlCol="0" anchor="t"/>
          <a:lstStyle/>
          <a:p>
            <a:pPr marL="0" indent="0" algn="l">
              <a:lnSpc>
                <a:spcPts val="2624"/>
              </a:lnSpc>
              <a:buNone/>
            </a:pPr>
            <a:r>
              <a:rPr lang="en-US" sz="2400" kern="0" spc="-35" dirty="0">
                <a:solidFill>
                  <a:srgbClr val="E5E0DF"/>
                </a:solidFill>
                <a:latin typeface="Abadi" panose="020B0604020104020204" pitchFamily="34" charset="0"/>
                <a:ea typeface="Inter" pitchFamily="34" charset="-122"/>
                <a:cs typeface="Inter" pitchFamily="34" charset="-120"/>
              </a:rPr>
              <a:t>Enhance accessibility features by providing detailed information on wheelchair accessibility and other mobility needs.</a:t>
            </a:r>
            <a:endParaRPr lang="en-US" sz="2400" dirty="0">
              <a:latin typeface="Abadi" panose="020B0604020104020204" pitchFamily="34" charset="0"/>
            </a:endParaRPr>
          </a:p>
        </p:txBody>
      </p:sp>
      <p:pic>
        <p:nvPicPr>
          <p:cNvPr id="14" name="Image 3" descr="preencoded.png"/>
          <p:cNvPicPr>
            <a:picLocks noChangeAspect="1"/>
          </p:cNvPicPr>
          <p:nvPr/>
        </p:nvPicPr>
        <p:blipFill>
          <a:blip r:embed="rId6"/>
          <a:stretch>
            <a:fillRect/>
          </a:stretch>
        </p:blipFill>
        <p:spPr>
          <a:xfrm>
            <a:off x="10550426" y="1732920"/>
            <a:ext cx="555427" cy="555427"/>
          </a:xfrm>
          <a:prstGeom prst="rect">
            <a:avLst/>
          </a:prstGeom>
        </p:spPr>
      </p:pic>
      <p:sp>
        <p:nvSpPr>
          <p:cNvPr id="15" name="Text 9"/>
          <p:cNvSpPr/>
          <p:nvPr/>
        </p:nvSpPr>
        <p:spPr>
          <a:xfrm>
            <a:off x="9892144" y="2548534"/>
            <a:ext cx="2600698" cy="788433"/>
          </a:xfrm>
          <a:prstGeom prst="rect">
            <a:avLst/>
          </a:prstGeom>
          <a:noFill/>
          <a:ln/>
        </p:spPr>
        <p:txBody>
          <a:bodyPr wrap="square" rtlCol="0" anchor="t"/>
          <a:lstStyle/>
          <a:p>
            <a:pPr marL="0" indent="0" algn="l">
              <a:lnSpc>
                <a:spcPts val="2734"/>
              </a:lnSpc>
              <a:buNone/>
            </a:pPr>
            <a:r>
              <a:rPr lang="en-US" sz="2400" b="1" kern="0" spc="-66" dirty="0">
                <a:solidFill>
                  <a:srgbClr val="E5E0DF"/>
                </a:solidFill>
                <a:latin typeface="Algerian" panose="04020705040A02060702" pitchFamily="82" charset="0"/>
                <a:ea typeface="Inter" pitchFamily="34" charset="-122"/>
                <a:cs typeface="Inter" pitchFamily="34" charset="-120"/>
              </a:rPr>
              <a:t>Multimodal Integration</a:t>
            </a:r>
            <a:endParaRPr lang="en-US" sz="2400" dirty="0">
              <a:latin typeface="Algerian" panose="04020705040A02060702" pitchFamily="82" charset="0"/>
            </a:endParaRPr>
          </a:p>
        </p:txBody>
      </p:sp>
      <p:sp>
        <p:nvSpPr>
          <p:cNvPr id="16" name="Text 10"/>
          <p:cNvSpPr/>
          <p:nvPr/>
        </p:nvSpPr>
        <p:spPr>
          <a:xfrm>
            <a:off x="9799274" y="4020504"/>
            <a:ext cx="3146961" cy="3569016"/>
          </a:xfrm>
          <a:prstGeom prst="rect">
            <a:avLst/>
          </a:prstGeom>
          <a:noFill/>
          <a:ln/>
        </p:spPr>
        <p:txBody>
          <a:bodyPr wrap="square" rtlCol="0" anchor="t"/>
          <a:lstStyle/>
          <a:p>
            <a:pPr marL="0" indent="0" algn="l">
              <a:lnSpc>
                <a:spcPts val="2624"/>
              </a:lnSpc>
              <a:buNone/>
            </a:pPr>
            <a:r>
              <a:rPr lang="en-US" sz="2400" kern="0" spc="-35" dirty="0">
                <a:solidFill>
                  <a:srgbClr val="E5E0DF"/>
                </a:solidFill>
                <a:latin typeface="Abadi" panose="020B0604020104020204" pitchFamily="34" charset="0"/>
                <a:ea typeface="Inter" pitchFamily="34" charset="-122"/>
                <a:cs typeface="Inter" pitchFamily="34" charset="-120"/>
              </a:rPr>
              <a:t>Integrate information about other modes of transportation, such as taxis and ride-sharing services, to provide a more comprehensive travel planning experience</a:t>
            </a:r>
            <a:r>
              <a:rPr lang="en-US" sz="1750" kern="0" spc="-35" dirty="0">
                <a:solidFill>
                  <a:srgbClr val="E5E0DF"/>
                </a:solidFill>
                <a:latin typeface="Inter" pitchFamily="34" charset="0"/>
                <a:ea typeface="Inter" pitchFamily="34" charset="-122"/>
                <a:cs typeface="Inter" pitchFamily="34" charset="-120"/>
              </a:rPr>
              <a:t>.</a:t>
            </a:r>
            <a:endParaRPr lang="en-US" sz="1750" dirty="0"/>
          </a:p>
        </p:txBody>
      </p:sp>
      <p:pic>
        <p:nvPicPr>
          <p:cNvPr id="17" name="Image 4" descr="preencoded.png">
            <a:hlinkClick r:id="rId7"/>
          </p:cNvPr>
          <p:cNvPicPr>
            <a:picLocks noChangeAspect="1"/>
          </p:cNvPicPr>
          <p:nvPr/>
        </p:nvPicPr>
        <p:blipFill>
          <a:blip r:embed="rId8"/>
          <a:stretch>
            <a:fillRect/>
          </a:stretch>
        </p:blipFill>
        <p:spPr>
          <a:xfrm>
            <a:off x="12242153" y="7589520"/>
            <a:ext cx="2296807" cy="548640"/>
          </a:xfrm>
          <a:prstGeom prst="rect">
            <a:avLst/>
          </a:prstGeom>
        </p:spPr>
      </p:pic>
      <p:sp>
        <p:nvSpPr>
          <p:cNvPr id="18" name="Rectangle 17">
            <a:extLst>
              <a:ext uri="{FF2B5EF4-FFF2-40B4-BE49-F238E27FC236}">
                <a16:creationId xmlns:a16="http://schemas.microsoft.com/office/drawing/2014/main" id="{577F6D24-7E48-1C0D-B166-153224F481AA}"/>
              </a:ext>
            </a:extLst>
          </p:cNvPr>
          <p:cNvSpPr/>
          <p:nvPr/>
        </p:nvSpPr>
        <p:spPr>
          <a:xfrm>
            <a:off x="11391999" y="7238948"/>
            <a:ext cx="3146961" cy="899212"/>
          </a:xfrm>
          <a:prstGeom prst="rect">
            <a:avLst/>
          </a:prstGeom>
          <a:solidFill>
            <a:srgbClr val="272525"/>
          </a:solidFill>
          <a:ln>
            <a:solidFill>
              <a:srgbClr val="2725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760</Words>
  <Application>Microsoft Office PowerPoint</Application>
  <PresentationFormat>Custom</PresentationFormat>
  <Paragraphs>76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Abadi</vt:lpstr>
      <vt:lpstr>Aharoni</vt:lpstr>
      <vt:lpstr>Algerian</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Shoaib Rafiq</cp:lastModifiedBy>
  <cp:revision>9</cp:revision>
  <dcterms:created xsi:type="dcterms:W3CDTF">2024-06-18T04:07:55Z</dcterms:created>
  <dcterms:modified xsi:type="dcterms:W3CDTF">2024-06-20T16:28:03Z</dcterms:modified>
</cp:coreProperties>
</file>